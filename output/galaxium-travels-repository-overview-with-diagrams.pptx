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c58c0ab6734da1" /><Relationship Type="http://schemas.openxmlformats.org/officeDocument/2006/relationships/extended-properties" Target="/docProps/app.xml" Id="R82a2dd0598bb472b" /><Relationship Type="http://schemas.openxmlformats.org/officeDocument/2006/relationships/officeDocument" Target="/ppt/presentation.xml" Id="Rfcad42327dc04b93" /></Relationships>
</file>

<file path=ppt/presentation.xml><?xml version="1.0" encoding="utf-8"?>
<p:presentation xmlns:p="http://schemas.openxmlformats.org/presentationml/2006/main">
  <p:sldMasterIdLst>
    <p:sldMasterId xmlns:r="http://schemas.openxmlformats.org/officeDocument/2006/relationships" id="2147483648" r:id="R55c971cf41c84b04"/>
  </p:sldMasterIdLst>
  <p:notesMasterIdLst>
    <p:notesMasterId xmlns:r="http://schemas.openxmlformats.org/officeDocument/2006/relationships" r:id="R9207c41252934837"/>
  </p:notesMasterIdLst>
  <p:sldIdLst>
    <p:sldId xmlns:r="http://schemas.openxmlformats.org/officeDocument/2006/relationships" id="256" r:id="R89063bc8257d4410"/>
    <p:sldId xmlns:r="http://schemas.openxmlformats.org/officeDocument/2006/relationships" id="257" r:id="R56d0b2b925954332"/>
    <p:sldId xmlns:r="http://schemas.openxmlformats.org/officeDocument/2006/relationships" id="258" r:id="R62db6f0c904e4881"/>
    <p:sldId xmlns:r="http://schemas.openxmlformats.org/officeDocument/2006/relationships" id="259" r:id="R0f842de015164dbd"/>
    <p:sldId xmlns:r="http://schemas.openxmlformats.org/officeDocument/2006/relationships" id="260" r:id="Rbe1295c458914e37"/>
    <p:sldId xmlns:r="http://schemas.openxmlformats.org/officeDocument/2006/relationships" id="261" r:id="R9de0cb1dc1bb4653"/>
    <p:sldId xmlns:r="http://schemas.openxmlformats.org/officeDocument/2006/relationships" id="262" r:id="R528c61eee0c74d34"/>
    <p:sldId xmlns:r="http://schemas.openxmlformats.org/officeDocument/2006/relationships" id="263" r:id="R725dd1b05c844b9e"/>
    <p:sldId xmlns:r="http://schemas.openxmlformats.org/officeDocument/2006/relationships" id="264" r:id="Ra383acdfdff74276"/>
    <p:sldId xmlns:r="http://schemas.openxmlformats.org/officeDocument/2006/relationships" id="265" r:id="Rdafd7683160c46eb"/>
    <p:sldId xmlns:r="http://schemas.openxmlformats.org/officeDocument/2006/relationships" id="266" r:id="Ra2934844627f4063"/>
    <p:sldId xmlns:r="http://schemas.openxmlformats.org/officeDocument/2006/relationships" id="267" r:id="R93e3feda428a4af9"/>
    <p:sldId xmlns:r="http://schemas.openxmlformats.org/officeDocument/2006/relationships" id="268" r:id="Rad212db97bb449ae"/>
    <p:sldId xmlns:r="http://schemas.openxmlformats.org/officeDocument/2006/relationships" id="269" r:id="Rbda24654dbb2430d"/>
    <p:sldId xmlns:r="http://schemas.openxmlformats.org/officeDocument/2006/relationships" id="270" r:id="R3c3e2803be4748ac"/>
    <p:sldId xmlns:r="http://schemas.openxmlformats.org/officeDocument/2006/relationships" id="271" r:id="R0bba429d808e4e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34be14df0b4108" /><Relationship Type="http://schemas.openxmlformats.org/officeDocument/2006/relationships/slideMaster" Target="/ppt/slideMasters/slideMaster1.xml" Id="R55c971cf41c84b04" /><Relationship Type="http://schemas.openxmlformats.org/officeDocument/2006/relationships/notesMaster" Target="/ppt/notesMasters/notesMaster1.xml" Id="R9207c41252934837" /><Relationship Type="http://schemas.openxmlformats.org/officeDocument/2006/relationships/presProps" Target="/ppt/presProps.xml" Id="R9c1c8af753264120" /><Relationship Type="http://schemas.openxmlformats.org/officeDocument/2006/relationships/tableStyles" Target="/ppt/tableStyles.xml" Id="Rd4d6057b6d404d6f" /><Relationship Type="http://schemas.openxmlformats.org/officeDocument/2006/relationships/slide" Target="/ppt/slides/slide1.xml" Id="R89063bc8257d4410" /><Relationship Type="http://schemas.openxmlformats.org/officeDocument/2006/relationships/slide" Target="/ppt/slides/slide2.xml" Id="R56d0b2b925954332" /><Relationship Type="http://schemas.openxmlformats.org/officeDocument/2006/relationships/slide" Target="/ppt/slides/slide3.xml" Id="R62db6f0c904e4881" /><Relationship Type="http://schemas.openxmlformats.org/officeDocument/2006/relationships/slide" Target="/ppt/slides/slide4.xml" Id="R0f842de015164dbd" /><Relationship Type="http://schemas.openxmlformats.org/officeDocument/2006/relationships/slide" Target="/ppt/slides/slide5.xml" Id="Rbe1295c458914e37" /><Relationship Type="http://schemas.openxmlformats.org/officeDocument/2006/relationships/slide" Target="/ppt/slides/slide6.xml" Id="R9de0cb1dc1bb4653" /><Relationship Type="http://schemas.openxmlformats.org/officeDocument/2006/relationships/slide" Target="/ppt/slides/slide7.xml" Id="R528c61eee0c74d34" /><Relationship Type="http://schemas.openxmlformats.org/officeDocument/2006/relationships/slide" Target="/ppt/slides/slide8.xml" Id="R725dd1b05c844b9e" /><Relationship Type="http://schemas.openxmlformats.org/officeDocument/2006/relationships/slide" Target="/ppt/slides/slide9.xml" Id="Ra383acdfdff74276" /><Relationship Type="http://schemas.openxmlformats.org/officeDocument/2006/relationships/slide" Target="/ppt/slides/slide10.xml" Id="Rdafd7683160c46eb" /><Relationship Type="http://schemas.openxmlformats.org/officeDocument/2006/relationships/slide" Target="/ppt/slides/slide11.xml" Id="Ra2934844627f4063" /><Relationship Type="http://schemas.openxmlformats.org/officeDocument/2006/relationships/slide" Target="/ppt/slides/slide12.xml" Id="R93e3feda428a4af9" /><Relationship Type="http://schemas.openxmlformats.org/officeDocument/2006/relationships/slide" Target="/ppt/slides/slide13.xml" Id="Rad212db97bb449ae" /><Relationship Type="http://schemas.openxmlformats.org/officeDocument/2006/relationships/slide" Target="/ppt/slides/slide14.xml" Id="Rbda24654dbb2430d" /><Relationship Type="http://schemas.openxmlformats.org/officeDocument/2006/relationships/slide" Target="/ppt/slides/slide15.xml" Id="R3c3e2803be4748ac" /><Relationship Type="http://schemas.openxmlformats.org/officeDocument/2006/relationships/slide" Target="/ppt/slides/slide16.xml" Id="R0bba429d808e4e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d19235c79647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56233a32d44a08" /><Relationship Type="http://schemas.openxmlformats.org/officeDocument/2006/relationships/notesMaster" Target="/ppt/notesMasters/notesMaster1.xml" Id="Rf09d3368e28542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8fb9de3d664bb6" /><Relationship Type="http://schemas.openxmlformats.org/officeDocument/2006/relationships/notesMaster" Target="/ppt/notesMasters/notesMaster1.xml" Id="Rd578b85bbc7243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d303f43ea84c1d" /><Relationship Type="http://schemas.openxmlformats.org/officeDocument/2006/relationships/notesMaster" Target="/ppt/notesMasters/notesMaster1.xml" Id="R97880596eb1b4f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16c4fd92454363" /><Relationship Type="http://schemas.openxmlformats.org/officeDocument/2006/relationships/notesMaster" Target="/ppt/notesMasters/notesMaster1.xml" Id="R9934a43ed63f44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2d30672b1646c6" /><Relationship Type="http://schemas.openxmlformats.org/officeDocument/2006/relationships/notesMaster" Target="/ppt/notesMasters/notesMaster1.xml" Id="R3e5d7c841bf945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93fa21a2ba492e" /><Relationship Type="http://schemas.openxmlformats.org/officeDocument/2006/relationships/notesMaster" Target="/ppt/notesMasters/notesMaster1.xml" Id="R8c91b85dd1c84a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0632c0b312468c" /><Relationship Type="http://schemas.openxmlformats.org/officeDocument/2006/relationships/notesMaster" Target="/ppt/notesMasters/notesMaster1.xml" Id="R8f54cd46560e49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f97a6363224b76" /><Relationship Type="http://schemas.openxmlformats.org/officeDocument/2006/relationships/notesMaster" Target="/ppt/notesMasters/notesMaster1.xml" Id="R3dec5da300dc49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467eaaa1d04cbb" /><Relationship Type="http://schemas.openxmlformats.org/officeDocument/2006/relationships/notesMaster" Target="/ppt/notesMasters/notesMaster1.xml" Id="R6f353978454346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afae2d5894416e" /><Relationship Type="http://schemas.openxmlformats.org/officeDocument/2006/relationships/notesMaster" Target="/ppt/notesMasters/notesMaster1.xml" Id="R4639e4eed2504b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f57cfeaf9a447a" /><Relationship Type="http://schemas.openxmlformats.org/officeDocument/2006/relationships/notesMaster" Target="/ppt/notesMasters/notesMaster1.xml" Id="R6d95ac36290d41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d6307ed3f34677" /><Relationship Type="http://schemas.openxmlformats.org/officeDocument/2006/relationships/notesMaster" Target="/ppt/notesMasters/notesMaster1.xml" Id="Rca649573dc3f4e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239da95235a4881" /><Relationship Type="http://schemas.openxmlformats.org/officeDocument/2006/relationships/notesMaster" Target="/ppt/notesMasters/notesMaster1.xml" Id="Rf5da25861dcd48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b7fa50b175449d" /><Relationship Type="http://schemas.openxmlformats.org/officeDocument/2006/relationships/notesMaster" Target="/ppt/notesMasters/notesMaster1.xml" Id="R1b91882606c448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21a425eb5640ef" /><Relationship Type="http://schemas.openxmlformats.org/officeDocument/2006/relationships/notesMaster" Target="/ppt/notesMasters/notesMaster1.xml" Id="R94c6a3c11b0c47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848b3fbe2344f1" /><Relationship Type="http://schemas.openxmlformats.org/officeDocument/2006/relationships/notesMaster" Target="/ppt/notesMasters/notesMaster1.xml" Id="R149418758a4e4b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runnable comparison for developers and architects. The central question is where REST and MCP fit in an AI-ready application. Local checkout inspected on 7 September 2026, commit 200951e. Suggested duration: 12–15 minutes.</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/Users/thomassuedbroecker/Documents/dev/ibm_bob/galaxium-travels-infrastructure-tsuedbro/README.md</a:t>
            </a:r>
          </a:p>
          <a:p xmlns:a="http://schemas.openxmlformats.org/drawingml/2006/main">
            <a:r>
              <a:t>/Users/thomassuedbroecker/Documents/dev/ibm_bob/galaxium-travels-infrastructure-tsuedbro/ARCHITECTURE.md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 repository illustration of the two login screens, not a live capture from this session. Both UIs support the equivalent traveler flow. Introduce the comparison before discussing implementation.</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/Users/thomassuedbroecker/Documents/dev/ibm_bob/galaxium-travels-infrastructure-tsuedbro/README.md</a:t>
            </a:r>
          </a:p>
          <a:p xmlns:a="http://schemas.openxmlformats.org/drawingml/2006/main">
            <a:r>
              <a:t>/Users/thomassuedbroecker/Documents/dev/ibm_bob/galaxium-travels-infrastructure-tsuedbro/images/galaxium-travels-login.jpg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REST and MCP use equivalent domain models but independent SQLite databases. HR is separate from both booking request paths. External MCP clients can connect directly. Keycloak participates in the OAuth variant. The default Compose HR backend is Python; a standalone Java alternative also exists.</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/Users/thomassuedbroecker/Documents/dev/ibm_bob/galaxium-travels-infrastructure-tsuedbro/local-container/docker_compose.yaml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each lane left to right. Browser requests terminate at the Flask UI; each UI invokes its own backend. REST uses HTTP JSON, while the MCP UI uses a direct Python client over Streamable HTTP. Both booking services access independent SQLite databases. An external MCP client reaches the same FastMCP server and MCP database as the MCP UI. Authentication is omitted here and shown separately. The external client need not be an autonomous agent.</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/Users/thomassuedbroecker/Documents/dev/ibm_bob/galaxium-travels-infrastructure-tsuedbro/booking_system_rest/app.py</a:t>
            </a:r>
          </a:p>
          <a:p xmlns:a="http://schemas.openxmlformats.org/drawingml/2006/main">
            <a:r>
              <a:t>/Users/thomassuedbroecker/Documents/dev/ibm_bob/galaxium-travels-infrastructure-tsuedbro/booking_system_mcp/mcp_server.py</a:t>
            </a:r>
          </a:p>
          <a:p xmlns:a="http://schemas.openxmlformats.org/drawingml/2006/main">
            <a:r>
              <a:t>/Users/thomassuedbroecker/Documents/dev/ibm_bob/galaxium-travels-infrastructure-tsuedbro/local-container/docker_compose.yaml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examples to show interface differences. Both services also support user lookup or registration, listing bookings, and cancellation. Do not imply response and error contracts are identical: REST business errors can return HTTP 200 with success=false.</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/Users/thomassuedbroecker/Documents/dev/ibm_bob/galaxium-travels-infrastructure-tsuedbro/booking_system_rest/app.py</a:t>
            </a:r>
          </a:p>
          <a:p xmlns:a="http://schemas.openxmlformats.org/drawingml/2006/main">
            <a:r>
              <a:t>/Users/thomassuedbroecker/Documents/dev/ibm_bob/galaxium-travels-infrastructure-tsuedbro/booking_system_mcp/mcp_server.py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AI-ready as the availability of a tool interface. The current UI is deterministic application integration; it is not an autonomous agent. Active server entry point is mcp_server.py; app.py is legacy reference.</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/Users/thomassuedbroecker/Documents/dev/ibm_bob/galaxium-travels-infrastructure-tsuedbro/galaxium-booking-web-app-mcp/README.md</a:t>
            </a:r>
          </a:p>
          <a:p xmlns:a="http://schemas.openxmlformats.org/drawingml/2006/main">
            <a:r>
              <a:t>/Users/thomassuedbroecker/Documents/dev/ibm_bob/galaxium-travels-infrastructure-tsuedbro/booking_system_mcp/mcp_server.py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supported comparison configurations. Browser identity and backend credentials are separate in the mixed mode. LAN OAuth must advertise reachable host URLs; the internal Keycloak container port remains 8080.</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/Users/thomassuedbroecker/Documents/dev/ibm_bob/galaxium-travels-infrastructure-tsuedbro/QUICKSTART.md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lanes summarize credential boundaries, not the detailed OAuth protocol exchange. OAuth mode: Keycloak establishes browser identity and backends validate bearer tokens. Basic-only mode: the browser has a guest session and the UI sends shared Basic Auth credentials. Mixed MCP: Keycloak authenticates the browser user, while the MCP UI sends shared Basic Auth credentials to the MCP backend. Browser credentials are not forwarded as Basic Auth user credentials. Internal Keycloak URL uses port 8080; local public access uses 8086.</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/Users/thomassuedbroecker/Documents/dev/ibm_bob/galaxium-travels-infrastructure-tsuedbro/local-container/docker_compose.yaml</a:t>
            </a:r>
          </a:p>
          <a:p xmlns:a="http://schemas.openxmlformats.org/drawingml/2006/main">
            <a:r>
              <a:t>/Users/thomassuedbroecker/Documents/dev/ibm_bob/galaxium-travels-infrastructure-tsuedbro/local-container/docker_compose.basic-auth.yaml</a:t>
            </a:r>
          </a:p>
          <a:p xmlns:a="http://schemas.openxmlformats.org/drawingml/2006/main">
            <a:r>
              <a:t>/Users/thomassuedbroecker/Documents/dev/ibm_bob/galaxium-travels-infrastructure-tsuedbro/local-container/docker_compose.mcp-ui-keycloak-basic.yaml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Compose stack selects the Python HR service. The standalone HR launcher accepts --backend python or --backend java. Local frontend development uses 8088. Neither HR variant synchronizes its data with the other.</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/Users/thomassuedbroecker/Documents/dev/ibm_bob/galaxium-travels-infrastructure-tsuedbro/hr_database_frontend_java/README.md</a:t>
            </a:r>
          </a:p>
          <a:p xmlns:a="http://schemas.openxmlformats.org/drawingml/2006/main">
            <a:r>
              <a:t>/Users/thomassuedbroecker/Documents/dev/ibm_bob/galaxium-travels-infrastructure-tsuedbro/README.md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Prerequisite: Docker Engine with Compose v2. Run the command from the repository root. First builds can take time. The default option includes Keycloak. Use the demo traveler login documented in QUICKSTART.md. Follow that guide for Basic Auth or LAN settings.</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/Users/thomassuedbroecker/Documents/dev/ibm_bob/galaxium-travels-infrastructure-tsuedbro/QUICKSTART.md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live demonstration sequence, not a claim that these actions were executed while making the presentation. Choose available demo data. Keep the backend processes running: startup reseeds each database and removes booking changes.</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/Users/thomassuedbroecker/Documents/dev/ibm_bob/galaxium-travels-infrastructure-tsuedbro/QUICKSTART.md</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/Users/thomassuedbroecker/Documents/dev/ibm_bob/galaxium-travels-infrastructure-tsuedbro/booking_system_mcp/mcp_server.py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supported cloud package is deployment/ibm-code-engine/deploy-stack.sh. It deploys the five Python Galaxium services, with Keycloak for OAuth; do not imply the Java HR portal is included in that package. Repository documentation records local checks but no completed live-cloud validation.</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/Users/thomassuedbroecker/Documents/dev/ibm_bob/galaxium-travels-infrastructure-tsuedbro/deployment/ibm-code-engine/README.md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client-reachability deployment view. Local and LAN clients can target the same host stack with different addresses; localhost from a VM refers to the VM itself. OAuth on LAN must use a reachable public issuer and MCP base URL. The internal container Keycloak port remains 8080. The default local full Compose stack includes the Java HR portal, but the Code Engine deployment package deploys the five Python services: HR API, REST backend, MCP server and two Flask UIs. Keycloak is optional for OAuth. Code Engine exposes generated HTTPS application URLs, not fixed public 808x ports. Basic Auth is the cloud template default. The cloud package is documented but not live-cloud verified.</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/Users/thomassuedbroecker/Documents/dev/ibm_bob/galaxium-travels-infrastructure-tsuedbro/QUICKSTART.md</a:t>
            </a:r>
          </a:p>
          <a:p xmlns:a="http://schemas.openxmlformats.org/drawingml/2006/main">
            <a:r>
              <a:t>/Users/thomassuedbroecker/Documents/dev/ibm_bob/galaxium-travels-infrastructure-tsuedbro/local-container/docker_compose.vm-oauth.yaml</a:t>
            </a:r>
          </a:p>
          <a:p xmlns:a="http://schemas.openxmlformats.org/drawingml/2006/main">
            <a:r>
              <a:t>/Users/thomassuedbroecker/Documents/dev/ibm_bob/galaxium-travels-infrastructure-tsuedbro/deployment/ibm-code-engine/README.md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testing/README.md latest verified state. This presentation was prepared from checkout 200951e; these are recorded results for 12867a5, not a new test run or a passing claim for this checkout. Three contract failures concern old HR frontend expectations; one parser does not recognize export assignments in the Basic Auth template.</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/Users/thomassuedbroecker/Documents/dev/ibm_bob/galaxium-travels-infrastructure-tsuedbro/testing/README.md</a:t>
            </a:r>
          </a:p>
          <a:p xmlns:a="http://schemas.openxmlformats.org/drawingml/2006/main">
            <a:r>
              <a:t>/Users/thomassuedbroecker/Documents/dev/ibm_bob/galaxium-travels-infrastructure-tsuedbro/testing/results/LATEST-VALIDATION.md</a:t>
            </a:r>
          </a:p>
          <a:p xmlns:a="http://schemas.openxmlformats.org/drawingml/2006/main">
            <a:r>
              <a:t>/Users/thomassuedbroecker/Documents/dev/ibm_bob/galaxium-travels-infrastructure-tsuedbro/deployment/ibm-code-engine/README.md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these constraints visible in a presentation to avoid suggesting production readiness. The project is useful precisely because it makes integration choices observable in a small domain.</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inviting the audience to run both paths and explain which boundary they would choose for their own application. Use README.md as the repository entry point, QUICKSTART.md for setup, ARCHITECTURE.md for runtime boundaries, and docs/AI_ENGINEER_GUIDE.md for external tool integration.</a:t>
            </a:r>
          </a:p>
          <a:p xmlns:a="http://schemas.openxmlformats.org/drawingml/2006/main">
            <a:r>
              <a:t/>
            </a:r>
          </a:p>
          <a:p xmlns:a="http://schemas.openxmlformats.org/drawingml/2006/main">
            <a:r>
              <a:t>[Sources]</a:t>
            </a:r>
          </a:p>
          <a:p xmlns:a="http://schemas.openxmlformats.org/drawingml/2006/main">
            <a:r>
              <a:t>/Users/thomassuedbroecker/Documents/dev/ibm_bob/galaxium-travels-infrastructure-tsuedbro/README.md</a:t>
            </a:r>
          </a:p>
          <a:p xmlns:a="http://schemas.openxmlformats.org/drawingml/2006/main">
            <a:r>
              <a:t>/Users/thomassuedbroecker/Documents/dev/ibm_bob/galaxium-travels-infrastructure-tsuedbro/QUICKSTART.md</a:t>
            </a:r>
          </a:p>
          <a:p xmlns:a="http://schemas.openxmlformats.org/drawingml/2006/main">
            <a:r>
              <a:t>/Users/thomassuedbroecker/Documents/dev/ibm_bob/galaxium-travels-infrastructure-tsuedbro/ARCHITECTURE.md</a:t>
            </a:r>
          </a:p>
          <a:p xmlns:a="http://schemas.openxmlformats.org/drawingml/2006/main">
            <a:r>
              <a:t>/Users/thomassuedbroecker/Documents/dev/ibm_bob/galaxium-travels-infrastructure-tsuedbro/docs/AI_ENGINEER_GUIDE.md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d72ae898a844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5421e6471a4ff0" /><Relationship Type="http://schemas.openxmlformats.org/officeDocument/2006/relationships/slideLayout" Target="/ppt/slideLayouts/slideLayout1.xml" Id="Rebaaa7d497d94f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aaa7d497d94f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82019f14a24be1" /><Relationship Type="http://schemas.openxmlformats.org/officeDocument/2006/relationships/notesSlide" Target="/ppt/notesSlides/notesSlide1.xml" Id="Rfb9304f5f94947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a47ff49aff45a9" /><Relationship Type="http://schemas.openxmlformats.org/officeDocument/2006/relationships/image" Target="/ppt/media/image.jpeg" Id="R230252ed2dfb4ee9" /><Relationship Type="http://schemas.openxmlformats.org/officeDocument/2006/relationships/notesSlide" Target="/ppt/notesSlides/notesSlide2.xml" Id="R0cc8a49a69034e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56d2749d9a4ade" /><Relationship Type="http://schemas.openxmlformats.org/officeDocument/2006/relationships/notesSlide" Target="/ppt/notesSlides/notesSlide3.xml" Id="R0658a940d09042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de66d2b29a4468" /><Relationship Type="http://schemas.openxmlformats.org/officeDocument/2006/relationships/notesSlide" Target="/ppt/notesSlides/notesSlide4.xml" Id="R30a3732302f843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ccd9451a3d46f9" /><Relationship Type="http://schemas.openxmlformats.org/officeDocument/2006/relationships/notesSlide" Target="/ppt/notesSlides/notesSlide5.xml" Id="R6f747524316d4e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ef871e363b4172" /><Relationship Type="http://schemas.openxmlformats.org/officeDocument/2006/relationships/notesSlide" Target="/ppt/notesSlides/notesSlide6.xml" Id="R62993cbb7f5e45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44ab6a784694c64" /><Relationship Type="http://schemas.openxmlformats.org/officeDocument/2006/relationships/notesSlide" Target="/ppt/notesSlides/notesSlide7.xml" Id="Rd59c6fe6f0ee41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784ef555d44353" /><Relationship Type="http://schemas.openxmlformats.org/officeDocument/2006/relationships/notesSlide" Target="/ppt/notesSlides/notesSlide8.xml" Id="R3b9f899d86ae4a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bfd3cf30c34b68" /><Relationship Type="http://schemas.openxmlformats.org/officeDocument/2006/relationships/notesSlide" Target="/ppt/notesSlides/notesSlide9.xml" Id="Rb18a7671809b4a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86284f5a804681" /><Relationship Type="http://schemas.openxmlformats.org/officeDocument/2006/relationships/notesSlide" Target="/ppt/notesSlides/notesSlide10.xml" Id="R965361b185c947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3f7b29963a4e27" /><Relationship Type="http://schemas.openxmlformats.org/officeDocument/2006/relationships/notesSlide" Target="/ppt/notesSlides/notesSlide11.xml" Id="R15e5944705dc45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13808a7d0954bcd" /><Relationship Type="http://schemas.openxmlformats.org/officeDocument/2006/relationships/notesSlide" Target="/ppt/notesSlides/notesSlide12.xml" Id="R4001c3e666a644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cb01c4441264e2e" /><Relationship Type="http://schemas.openxmlformats.org/officeDocument/2006/relationships/notesSlide" Target="/ppt/notesSlides/notesSlide13.xml" Id="Rc0fbddcaf4f541e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2adf47c09404980" /><Relationship Type="http://schemas.openxmlformats.org/officeDocument/2006/relationships/notesSlide" Target="/ppt/notesSlides/notesSlide14.xml" Id="R977e631bcd3a4c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ed50c35f0864d1e" /><Relationship Type="http://schemas.openxmlformats.org/officeDocument/2006/relationships/notesSlide" Target="/ppt/notesSlides/notesSlide15.xml" Id="Rc811204ae9d444b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cf894120ead4fda" /><Relationship Type="http://schemas.openxmlformats.org/officeDocument/2006/relationships/notesSlide" Target="/ppt/notesSlides/notesSlide16.xml" Id="Rb6dd82f463d541c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E6AB88-C016-423F-B048-F468414CFCAC}"/>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01</a:t>
            </a:r>
          </a:p>
        </p:txBody>
      </p:sp>
      <p:sp>
        <p:nvSpPr>
          <p:cNvPr id="2" name="">
            <a:extLst xmlns:a="http://schemas.openxmlformats.org/drawingml/2006/main">
              <a:ext uri="{FF2B5EF4-FFF2-40B4-BE49-F238E27FC236}">
                <a16:creationId xmlns:a16="http://schemas.microsoft.com/office/drawing/2014/main" id="{D02174F5-A15C-407D-9981-50E96BB828F6}"/>
              </a:ext>
            </a:extLst>
          </p:cNvPr>
          <p:cNvSpPr>
            <a:spLocks xmlns:a="http://schemas.openxmlformats.org/drawingml/2006/main" noGrp="1"/>
          </p:cNvSpPr>
          <p:nvPr/>
        </p:nvSpPr>
        <p:spPr>
          <a:xfrm xmlns:a="http://schemas.openxmlformats.org/drawingml/2006/main">
            <a:off x="400050" y="400050"/>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defRPr>
            </a:pPr>
            <a:r>
              <a:rPr sz="2400" b="0">
                <a:solidFill>
                  <a:srgbClr val="000000"/>
                </a:solidFill>
              </a:rPr>
              <a:t>REPOSITORY OVERVIEW</a:t>
            </a:r>
          </a:p>
        </p:txBody>
      </p:sp>
      <p:sp>
        <p:nvSpPr>
          <p:cNvPr id="3" name="">
            <a:extLst xmlns:a="http://schemas.openxmlformats.org/drawingml/2006/main">
              <a:ext uri="{FF2B5EF4-FFF2-40B4-BE49-F238E27FC236}">
                <a16:creationId xmlns:a16="http://schemas.microsoft.com/office/drawing/2014/main" id="{6468F392-90FB-4F0C-88F4-8A222A3E78F4}"/>
              </a:ext>
            </a:extLst>
          </p:cNvPr>
          <p:cNvSpPr>
            <a:spLocks xmlns:a="http://schemas.openxmlformats.org/drawingml/2006/main" noGrp="1"/>
          </p:cNvSpPr>
          <p:nvPr/>
        </p:nvSpPr>
        <p:spPr>
          <a:xfrm xmlns:a="http://schemas.openxmlformats.org/drawingml/2006/main">
            <a:off x="400050" y="2286000"/>
            <a:ext cx="113919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6000" b="0">
                <a:solidFill>
                  <a:srgbClr val="000000"/>
                </a:solidFill>
              </a:defRPr>
            </a:pPr>
            <a:r>
              <a:rPr sz="6000" b="0">
                <a:solidFill>
                  <a:srgbClr val="000000"/>
                </a:solidFill>
              </a:rPr>
              <a:t>Galaxium Travels</a:t>
            </a:r>
          </a:p>
        </p:txBody>
      </p:sp>
      <p:sp>
        <p:nvSpPr>
          <p:cNvPr id="4" name="">
            <a:extLst xmlns:a="http://schemas.openxmlformats.org/drawingml/2006/main">
              <a:ext uri="{FF2B5EF4-FFF2-40B4-BE49-F238E27FC236}">
                <a16:creationId xmlns:a16="http://schemas.microsoft.com/office/drawing/2014/main" id="{EE8763B7-7868-4E17-8E9F-5A69560BD820}"/>
              </a:ext>
            </a:extLst>
          </p:cNvPr>
          <p:cNvSpPr>
            <a:spLocks xmlns:a="http://schemas.openxmlformats.org/drawingml/2006/main" noGrp="1"/>
          </p:cNvSpPr>
          <p:nvPr/>
        </p:nvSpPr>
        <p:spPr>
          <a:xfrm xmlns:a="http://schemas.openxmlformats.org/drawingml/2006/main">
            <a:off x="400050" y="4743450"/>
            <a:ext cx="8572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b="0">
                <a:solidFill>
                  <a:srgbClr val="000000"/>
                </a:solidFill>
              </a:defRPr>
            </a:pPr>
            <a:r>
              <a:rPr sz="2700" b="0">
                <a:solidFill>
                  <a:srgbClr val="000000"/>
                </a:solidFill>
              </a:rPr>
              <a:t>One booking journey.</a:t>
            </a:r>
          </a:p>
          <a:p xmlns:a="http://schemas.openxmlformats.org/drawingml/2006/main">
            <a:pPr>
              <a:buNone/>
              <a:defRPr sz="2700" b="0">
                <a:solidFill>
                  <a:srgbClr val="000000"/>
                </a:solidFill>
              </a:defRPr>
            </a:pPr>
            <a:r>
              <a:rPr sz="2700" b="0">
                <a:solidFill>
                  <a:srgbClr val="000000"/>
                </a:solidFill>
              </a:rPr>
              <a:t>REST and MCP side by side.</a:t>
            </a:r>
          </a:p>
        </p:txBody>
      </p:sp>
    </p:spTree>
    <p:extLst>
      <p:ext uri="{BB962C8B-B14F-4D97-AF65-F5344CB8AC3E}">
        <p14:creationId xmlns:p14="http://schemas.microsoft.com/office/powerpoint/2010/main" val="19568308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2C981F-25F2-4633-A97C-34CFF1F4DF19}"/>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The same traveler journey</a:t>
            </a:r>
          </a:p>
        </p:txBody>
      </p:sp>
      <p:sp>
        <p:nvSpPr>
          <p:cNvPr id="2" name="">
            <a:extLst xmlns:a="http://schemas.openxmlformats.org/drawingml/2006/main">
              <a:ext uri="{FF2B5EF4-FFF2-40B4-BE49-F238E27FC236}">
                <a16:creationId xmlns:a16="http://schemas.microsoft.com/office/drawing/2014/main" id="{8F3FDC7B-69E9-44F3-8030-BFF6A3A4C2D9}"/>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02</a:t>
            </a:r>
          </a:p>
        </p:txBody>
      </p:sp>
      <p:sp>
        <p:nvSpPr>
          <p:cNvPr id="3" name="">
            <a:extLst xmlns:a="http://schemas.openxmlformats.org/drawingml/2006/main">
              <a:ext uri="{FF2B5EF4-FFF2-40B4-BE49-F238E27FC236}">
                <a16:creationId xmlns:a16="http://schemas.microsoft.com/office/drawing/2014/main" id="{33FAF840-5253-4310-9E27-CABB017F2703}"/>
              </a:ext>
            </a:extLst>
          </p:cNvPr>
          <p:cNvSpPr>
            <a:spLocks xmlns:a="http://schemas.openxmlformats.org/drawingml/2006/main" noGrp="1"/>
          </p:cNvSpPr>
          <p:nvPr/>
        </p:nvSpPr>
        <p:spPr>
          <a:xfrm xmlns:a="http://schemas.openxmlformats.org/drawingml/2006/main">
            <a:off x="400050" y="20288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Two ways to book</a:t>
            </a:r>
          </a:p>
        </p:txBody>
      </p:sp>
      <p:sp>
        <p:nvSpPr>
          <p:cNvPr id="4" name="">
            <a:extLst xmlns:a="http://schemas.openxmlformats.org/drawingml/2006/main">
              <a:ext uri="{FF2B5EF4-FFF2-40B4-BE49-F238E27FC236}">
                <a16:creationId xmlns:a16="http://schemas.microsoft.com/office/drawing/2014/main" id="{147D904B-14E9-4265-B56C-EE238B48F076}"/>
              </a:ext>
            </a:extLst>
          </p:cNvPr>
          <p:cNvSpPr>
            <a:spLocks xmlns:a="http://schemas.openxmlformats.org/drawingml/2006/main" noGrp="1"/>
          </p:cNvSpPr>
          <p:nvPr/>
        </p:nvSpPr>
        <p:spPr>
          <a:xfrm xmlns:a="http://schemas.openxmlformats.org/drawingml/2006/main">
            <a:off x="400050" y="2667000"/>
            <a:ext cx="5238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000000"/>
                </a:solidFill>
              </a:defRPr>
            </a:pPr>
            <a:r>
              <a:rPr sz="2250" b="0">
                <a:solidFill>
                  <a:srgbClr val="000000"/>
                </a:solidFill>
              </a:rPr>
              <a:t>Browse flights, identify a traveler, book a seat, view bookings, and cancel.</a:t>
            </a:r>
          </a:p>
          <a:p xmlns:a="http://schemas.openxmlformats.org/drawingml/2006/main">
            <a:r>
              <a:t/>
            </a:r>
          </a:p>
          <a:p xmlns:a="http://schemas.openxmlformats.org/drawingml/2006/main">
            <a:pPr>
              <a:buNone/>
              <a:defRPr sz="2250" b="0">
                <a:solidFill>
                  <a:srgbClr val="000000"/>
                </a:solidFill>
              </a:defRPr>
            </a:pPr>
            <a:r>
              <a:rPr sz="2250" b="0">
                <a:solidFill>
                  <a:srgbClr val="000000"/>
                </a:solidFill>
              </a:rPr>
              <a:t>Keep the business case familiar while comparing the integration.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30252ed2dfb4ee9"/>
          <a:stretch xmlns:a="http://schemas.openxmlformats.org/drawingml/2006/main"/>
        </p:blipFill>
        <p:spPr>
          <a:xfrm xmlns:a="http://schemas.openxmlformats.org/drawingml/2006/main">
            <a:off x="6267450" y="1948248"/>
            <a:ext cx="5524500" cy="3571103"/>
          </a:xfrm>
          <a:prstGeom xmlns:a="http://schemas.openxmlformats.org/drawingml/2006/main" prst="rect">
            <a:avLst/>
          </a:prstGeom>
        </p:spPr>
      </p:pic>
    </p:spTree>
    <p:extLst>
      <p:ext uri="{BB962C8B-B14F-4D97-AF65-F5344CB8AC3E}">
        <p14:creationId xmlns:p14="http://schemas.microsoft.com/office/powerpoint/2010/main" val="18719641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84E9F4A-5E53-4987-95B2-3C0E1BDF0C42}"/>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Three paths with separate data</a:t>
            </a:r>
          </a:p>
        </p:txBody>
      </p:sp>
      <p:sp>
        <p:nvSpPr>
          <p:cNvPr id="2" name="">
            <a:extLst xmlns:a="http://schemas.openxmlformats.org/drawingml/2006/main">
              <a:ext uri="{FF2B5EF4-FFF2-40B4-BE49-F238E27FC236}">
                <a16:creationId xmlns:a16="http://schemas.microsoft.com/office/drawing/2014/main" id="{DE73828E-3435-4504-8081-654D6ED4C159}"/>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03</a:t>
            </a:r>
          </a:p>
        </p:txBody>
      </p:sp>
      <p:sp>
        <p:nvSpPr>
          <p:cNvPr id="3" name="">
            <a:extLst xmlns:a="http://schemas.openxmlformats.org/drawingml/2006/main">
              <a:ext uri="{FF2B5EF4-FFF2-40B4-BE49-F238E27FC236}">
                <a16:creationId xmlns:a16="http://schemas.microsoft.com/office/drawing/2014/main" id="{FC5F1E53-573F-491D-814E-260403394BB7}"/>
              </a:ext>
            </a:extLst>
          </p:cNvPr>
          <p:cNvSpPr>
            <a:spLocks xmlns:a="http://schemas.openxmlformats.org/drawingml/2006/main" noGrp="1"/>
          </p:cNvSpPr>
          <p:nvPr/>
        </p:nvSpPr>
        <p:spPr>
          <a:xfrm xmlns:a="http://schemas.openxmlformats.org/drawingml/2006/main">
            <a:off x="3619500" y="19526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0">
                <a:solidFill>
                  <a:srgbClr val="000000"/>
                </a:solidFill>
              </a:defRPr>
            </a:pPr>
            <a:r>
              <a:rPr sz="3000" b="0">
                <a:solidFill>
                  <a:srgbClr val="000000"/>
                </a:solidFill>
              </a:rPr>
              <a:t>→</a:t>
            </a:r>
          </a:p>
        </p:txBody>
      </p:sp>
      <p:sp>
        <p:nvSpPr>
          <p:cNvPr id="4" name="">
            <a:extLst xmlns:a="http://schemas.openxmlformats.org/drawingml/2006/main">
              <a:ext uri="{FF2B5EF4-FFF2-40B4-BE49-F238E27FC236}">
                <a16:creationId xmlns:a16="http://schemas.microsoft.com/office/drawing/2014/main" id="{43410F37-A33D-45A4-9C5E-4831CE2C49A8}"/>
              </a:ext>
            </a:extLst>
          </p:cNvPr>
          <p:cNvSpPr>
            <a:spLocks xmlns:a="http://schemas.openxmlformats.org/drawingml/2006/main" noGrp="1"/>
          </p:cNvSpPr>
          <p:nvPr/>
        </p:nvSpPr>
        <p:spPr>
          <a:xfrm xmlns:a="http://schemas.openxmlformats.org/drawingml/2006/main">
            <a:off x="7620000" y="19526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0">
                <a:solidFill>
                  <a:srgbClr val="000000"/>
                </a:solidFill>
              </a:defRPr>
            </a:pPr>
            <a:r>
              <a:rPr sz="3000" b="0">
                <a:solidFill>
                  <a:srgbClr val="000000"/>
                </a:solidFill>
              </a:rPr>
              <a:t>→</a:t>
            </a:r>
          </a:p>
        </p:txBody>
      </p:sp>
      <p:sp>
        <p:nvSpPr>
          <p:cNvPr id="5" name="">
            <a:extLst xmlns:a="http://schemas.openxmlformats.org/drawingml/2006/main">
              <a:ext uri="{FF2B5EF4-FFF2-40B4-BE49-F238E27FC236}">
                <a16:creationId xmlns:a16="http://schemas.microsoft.com/office/drawing/2014/main" id="{B096F920-DE5C-4F89-B6FD-A07843F69063}"/>
              </a:ext>
            </a:extLst>
          </p:cNvPr>
          <p:cNvSpPr>
            <a:spLocks xmlns:a="http://schemas.openxmlformats.org/drawingml/2006/main" noGrp="1"/>
          </p:cNvSpPr>
          <p:nvPr/>
        </p:nvSpPr>
        <p:spPr>
          <a:xfrm xmlns:a="http://schemas.openxmlformats.org/drawingml/2006/main">
            <a:off x="3619500" y="307657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0">
                <a:solidFill>
                  <a:srgbClr val="000000"/>
                </a:solidFill>
              </a:defRPr>
            </a:pPr>
            <a:r>
              <a:rPr sz="3000" b="0">
                <a:solidFill>
                  <a:srgbClr val="000000"/>
                </a:solidFill>
              </a:rPr>
              <a:t>→</a:t>
            </a:r>
          </a:p>
        </p:txBody>
      </p:sp>
      <p:sp>
        <p:nvSpPr>
          <p:cNvPr id="6" name="">
            <a:extLst xmlns:a="http://schemas.openxmlformats.org/drawingml/2006/main">
              <a:ext uri="{FF2B5EF4-FFF2-40B4-BE49-F238E27FC236}">
                <a16:creationId xmlns:a16="http://schemas.microsoft.com/office/drawing/2014/main" id="{C4A994CF-3E2E-4957-8B2A-0BB9DA6A30F6}"/>
              </a:ext>
            </a:extLst>
          </p:cNvPr>
          <p:cNvSpPr>
            <a:spLocks xmlns:a="http://schemas.openxmlformats.org/drawingml/2006/main" noGrp="1"/>
          </p:cNvSpPr>
          <p:nvPr/>
        </p:nvSpPr>
        <p:spPr>
          <a:xfrm xmlns:a="http://schemas.openxmlformats.org/drawingml/2006/main">
            <a:off x="7620000" y="307657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0">
                <a:solidFill>
                  <a:srgbClr val="000000"/>
                </a:solidFill>
              </a:defRPr>
            </a:pPr>
            <a:r>
              <a:rPr sz="3000" b="0">
                <a:solidFill>
                  <a:srgbClr val="000000"/>
                </a:solidFill>
              </a:rPr>
              <a:t>→</a:t>
            </a:r>
          </a:p>
        </p:txBody>
      </p:sp>
      <p:sp>
        <p:nvSpPr>
          <p:cNvPr id="7" name="">
            <a:extLst xmlns:a="http://schemas.openxmlformats.org/drawingml/2006/main">
              <a:ext uri="{FF2B5EF4-FFF2-40B4-BE49-F238E27FC236}">
                <a16:creationId xmlns:a16="http://schemas.microsoft.com/office/drawing/2014/main" id="{4DC9FB14-C94F-4721-B2A3-9B44F84FEE17}"/>
              </a:ext>
            </a:extLst>
          </p:cNvPr>
          <p:cNvSpPr>
            <a:spLocks xmlns:a="http://schemas.openxmlformats.org/drawingml/2006/main" noGrp="1"/>
          </p:cNvSpPr>
          <p:nvPr/>
        </p:nvSpPr>
        <p:spPr>
          <a:xfrm xmlns:a="http://schemas.openxmlformats.org/drawingml/2006/main">
            <a:off x="3619500" y="42005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0">
                <a:solidFill>
                  <a:srgbClr val="000000"/>
                </a:solidFill>
              </a:defRPr>
            </a:pPr>
            <a:r>
              <a:rPr sz="3000" b="0">
                <a:solidFill>
                  <a:srgbClr val="000000"/>
                </a:solidFill>
              </a:rPr>
              <a:t>→</a:t>
            </a:r>
          </a:p>
        </p:txBody>
      </p:sp>
      <p:sp>
        <p:nvSpPr>
          <p:cNvPr id="8" name="">
            <a:extLst xmlns:a="http://schemas.openxmlformats.org/drawingml/2006/main">
              <a:ext uri="{FF2B5EF4-FFF2-40B4-BE49-F238E27FC236}">
                <a16:creationId xmlns:a16="http://schemas.microsoft.com/office/drawing/2014/main" id="{5851369E-3116-4B8E-8F22-E5E8066BF6D4}"/>
              </a:ext>
            </a:extLst>
          </p:cNvPr>
          <p:cNvSpPr>
            <a:spLocks xmlns:a="http://schemas.openxmlformats.org/drawingml/2006/main" noGrp="1"/>
          </p:cNvSpPr>
          <p:nvPr/>
        </p:nvSpPr>
        <p:spPr>
          <a:xfrm xmlns:a="http://schemas.openxmlformats.org/drawingml/2006/main">
            <a:off x="7620000" y="42005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0">
                <a:solidFill>
                  <a:srgbClr val="000000"/>
                </a:solidFill>
              </a:defRPr>
            </a:pPr>
            <a:r>
              <a:rPr sz="3000" b="0">
                <a:solidFill>
                  <a:srgbClr val="000000"/>
                </a:solidFill>
              </a:rPr>
              <a:t>→</a:t>
            </a:r>
          </a:p>
        </p:txBody>
      </p:sp>
      <p:sp>
        <p:nvSpPr>
          <p:cNvPr id="9" name="">
            <a:extLst xmlns:a="http://schemas.openxmlformats.org/drawingml/2006/main">
              <a:ext uri="{FF2B5EF4-FFF2-40B4-BE49-F238E27FC236}">
                <a16:creationId xmlns:a16="http://schemas.microsoft.com/office/drawing/2014/main" id="{CCCF12D9-D1B2-4D97-8E50-DD71DFEAC020}"/>
              </a:ext>
            </a:extLst>
          </p:cNvPr>
          <p:cNvSpPr>
            <a:spLocks xmlns:a="http://schemas.openxmlformats.org/drawingml/2006/main" noGrp="1"/>
          </p:cNvSpPr>
          <p:nvPr/>
        </p:nvSpPr>
        <p:spPr>
          <a:xfrm xmlns:a="http://schemas.openxmlformats.org/drawingml/2006/main">
            <a:off x="400050" y="1809750"/>
            <a:ext cx="3238500" cy="76200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6DE383-B3F9-49A7-AF0F-1722B8108687}"/>
              </a:ext>
            </a:extLst>
          </p:cNvPr>
          <p:cNvSpPr>
            <a:spLocks xmlns:a="http://schemas.openxmlformats.org/drawingml/2006/main" noGrp="1"/>
          </p:cNvSpPr>
          <p:nvPr/>
        </p:nvSpPr>
        <p:spPr>
          <a:xfrm xmlns:a="http://schemas.openxmlformats.org/drawingml/2006/main">
            <a:off x="571500" y="20193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REST UI :8083</a:t>
            </a:r>
          </a:p>
        </p:txBody>
      </p:sp>
      <p:sp>
        <p:nvSpPr>
          <p:cNvPr id="11" name="">
            <a:extLst xmlns:a="http://schemas.openxmlformats.org/drawingml/2006/main">
              <a:ext uri="{FF2B5EF4-FFF2-40B4-BE49-F238E27FC236}">
                <a16:creationId xmlns:a16="http://schemas.microsoft.com/office/drawing/2014/main" id="{B8D864A9-87C3-44F5-9D40-431CF13492CD}"/>
              </a:ext>
            </a:extLst>
          </p:cNvPr>
          <p:cNvSpPr>
            <a:spLocks xmlns:a="http://schemas.openxmlformats.org/drawingml/2006/main" noGrp="1"/>
          </p:cNvSpPr>
          <p:nvPr/>
        </p:nvSpPr>
        <p:spPr>
          <a:xfrm xmlns:a="http://schemas.openxmlformats.org/drawingml/2006/main">
            <a:off x="4381500" y="1809750"/>
            <a:ext cx="3238500" cy="76200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0FB79D7-BC0F-4A93-9A0A-D908191BF56E}"/>
              </a:ext>
            </a:extLst>
          </p:cNvPr>
          <p:cNvSpPr>
            <a:spLocks xmlns:a="http://schemas.openxmlformats.org/drawingml/2006/main" noGrp="1"/>
          </p:cNvSpPr>
          <p:nvPr/>
        </p:nvSpPr>
        <p:spPr>
          <a:xfrm xmlns:a="http://schemas.openxmlformats.org/drawingml/2006/main">
            <a:off x="4552950" y="20193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FastAPI :8082</a:t>
            </a:r>
          </a:p>
        </p:txBody>
      </p:sp>
      <p:sp>
        <p:nvSpPr>
          <p:cNvPr id="13" name="">
            <a:extLst xmlns:a="http://schemas.openxmlformats.org/drawingml/2006/main">
              <a:ext uri="{FF2B5EF4-FFF2-40B4-BE49-F238E27FC236}">
                <a16:creationId xmlns:a16="http://schemas.microsoft.com/office/drawing/2014/main" id="{65AE7E24-44C1-4895-BFC7-1846A28133A8}"/>
              </a:ext>
            </a:extLst>
          </p:cNvPr>
          <p:cNvSpPr>
            <a:spLocks xmlns:a="http://schemas.openxmlformats.org/drawingml/2006/main" noGrp="1"/>
          </p:cNvSpPr>
          <p:nvPr/>
        </p:nvSpPr>
        <p:spPr>
          <a:xfrm xmlns:a="http://schemas.openxmlformats.org/drawingml/2006/main">
            <a:off x="8382000" y="1809750"/>
            <a:ext cx="3238500" cy="76200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770C5D-32EA-48A8-AB53-2916043BCE94}"/>
              </a:ext>
            </a:extLst>
          </p:cNvPr>
          <p:cNvSpPr>
            <a:spLocks xmlns:a="http://schemas.openxmlformats.org/drawingml/2006/main" noGrp="1"/>
          </p:cNvSpPr>
          <p:nvPr/>
        </p:nvSpPr>
        <p:spPr>
          <a:xfrm xmlns:a="http://schemas.openxmlformats.org/drawingml/2006/main">
            <a:off x="8553450" y="20193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REST SQLite</a:t>
            </a:r>
          </a:p>
        </p:txBody>
      </p:sp>
      <p:sp>
        <p:nvSpPr>
          <p:cNvPr id="15" name="">
            <a:extLst xmlns:a="http://schemas.openxmlformats.org/drawingml/2006/main">
              <a:ext uri="{FF2B5EF4-FFF2-40B4-BE49-F238E27FC236}">
                <a16:creationId xmlns:a16="http://schemas.microsoft.com/office/drawing/2014/main" id="{F9D2DDA2-B445-4FE1-8235-2E17B6DCF9FF}"/>
              </a:ext>
            </a:extLst>
          </p:cNvPr>
          <p:cNvSpPr>
            <a:spLocks xmlns:a="http://schemas.openxmlformats.org/drawingml/2006/main" noGrp="1"/>
          </p:cNvSpPr>
          <p:nvPr/>
        </p:nvSpPr>
        <p:spPr>
          <a:xfrm xmlns:a="http://schemas.openxmlformats.org/drawingml/2006/main">
            <a:off x="400050" y="2933700"/>
            <a:ext cx="3238500" cy="76200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BC6D76-8411-4640-852A-9EB1CB2C1EDD}"/>
              </a:ext>
            </a:extLst>
          </p:cNvPr>
          <p:cNvSpPr>
            <a:spLocks xmlns:a="http://schemas.openxmlformats.org/drawingml/2006/main" noGrp="1"/>
          </p:cNvSpPr>
          <p:nvPr/>
        </p:nvSpPr>
        <p:spPr>
          <a:xfrm xmlns:a="http://schemas.openxmlformats.org/drawingml/2006/main">
            <a:off x="571500" y="31432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MCP UI :8085</a:t>
            </a:r>
          </a:p>
        </p:txBody>
      </p:sp>
      <p:sp>
        <p:nvSpPr>
          <p:cNvPr id="17" name="">
            <a:extLst xmlns:a="http://schemas.openxmlformats.org/drawingml/2006/main">
              <a:ext uri="{FF2B5EF4-FFF2-40B4-BE49-F238E27FC236}">
                <a16:creationId xmlns:a16="http://schemas.microsoft.com/office/drawing/2014/main" id="{26AA9464-9DD9-432E-99D7-3A78A8A4A8AA}"/>
              </a:ext>
            </a:extLst>
          </p:cNvPr>
          <p:cNvSpPr>
            <a:spLocks xmlns:a="http://schemas.openxmlformats.org/drawingml/2006/main" noGrp="1"/>
          </p:cNvSpPr>
          <p:nvPr/>
        </p:nvSpPr>
        <p:spPr>
          <a:xfrm xmlns:a="http://schemas.openxmlformats.org/drawingml/2006/main">
            <a:off x="4381500" y="2933700"/>
            <a:ext cx="3238500" cy="76200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373A548-FABE-4C43-A89D-299E82A3732A}"/>
              </a:ext>
            </a:extLst>
          </p:cNvPr>
          <p:cNvSpPr>
            <a:spLocks xmlns:a="http://schemas.openxmlformats.org/drawingml/2006/main" noGrp="1"/>
          </p:cNvSpPr>
          <p:nvPr/>
        </p:nvSpPr>
        <p:spPr>
          <a:xfrm xmlns:a="http://schemas.openxmlformats.org/drawingml/2006/main">
            <a:off x="4552950" y="31432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FastMCP :8084</a:t>
            </a:r>
          </a:p>
        </p:txBody>
      </p:sp>
      <p:sp>
        <p:nvSpPr>
          <p:cNvPr id="19" name="">
            <a:extLst xmlns:a="http://schemas.openxmlformats.org/drawingml/2006/main">
              <a:ext uri="{FF2B5EF4-FFF2-40B4-BE49-F238E27FC236}">
                <a16:creationId xmlns:a16="http://schemas.microsoft.com/office/drawing/2014/main" id="{5993CB56-AB11-460F-9D86-BBCA4841ADC2}"/>
              </a:ext>
            </a:extLst>
          </p:cNvPr>
          <p:cNvSpPr>
            <a:spLocks xmlns:a="http://schemas.openxmlformats.org/drawingml/2006/main" noGrp="1"/>
          </p:cNvSpPr>
          <p:nvPr/>
        </p:nvSpPr>
        <p:spPr>
          <a:xfrm xmlns:a="http://schemas.openxmlformats.org/drawingml/2006/main">
            <a:off x="8382000" y="2933700"/>
            <a:ext cx="3238500" cy="76200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D94E6AB-DBC9-47F9-BE39-EEBFEE34B9FC}"/>
              </a:ext>
            </a:extLst>
          </p:cNvPr>
          <p:cNvSpPr>
            <a:spLocks xmlns:a="http://schemas.openxmlformats.org/drawingml/2006/main" noGrp="1"/>
          </p:cNvSpPr>
          <p:nvPr/>
        </p:nvSpPr>
        <p:spPr>
          <a:xfrm xmlns:a="http://schemas.openxmlformats.org/drawingml/2006/main">
            <a:off x="8553450" y="31432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MCP SQLite</a:t>
            </a:r>
          </a:p>
        </p:txBody>
      </p:sp>
      <p:sp>
        <p:nvSpPr>
          <p:cNvPr id="21" name="">
            <a:extLst xmlns:a="http://schemas.openxmlformats.org/drawingml/2006/main">
              <a:ext uri="{FF2B5EF4-FFF2-40B4-BE49-F238E27FC236}">
                <a16:creationId xmlns:a16="http://schemas.microsoft.com/office/drawing/2014/main" id="{488DB7C5-1759-4090-820F-03F15F04B7A5}"/>
              </a:ext>
            </a:extLst>
          </p:cNvPr>
          <p:cNvSpPr>
            <a:spLocks xmlns:a="http://schemas.openxmlformats.org/drawingml/2006/main" noGrp="1"/>
          </p:cNvSpPr>
          <p:nvPr/>
        </p:nvSpPr>
        <p:spPr>
          <a:xfrm xmlns:a="http://schemas.openxmlformats.org/drawingml/2006/main">
            <a:off x="400050" y="4057650"/>
            <a:ext cx="3238500" cy="76200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C4E6F91-7F4D-4A91-A4EE-F564B0F81273}"/>
              </a:ext>
            </a:extLst>
          </p:cNvPr>
          <p:cNvSpPr>
            <a:spLocks xmlns:a="http://schemas.openxmlformats.org/drawingml/2006/main" noGrp="1"/>
          </p:cNvSpPr>
          <p:nvPr/>
        </p:nvSpPr>
        <p:spPr>
          <a:xfrm xmlns:a="http://schemas.openxmlformats.org/drawingml/2006/main">
            <a:off x="571500" y="42672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HR portal :8090</a:t>
            </a:r>
          </a:p>
        </p:txBody>
      </p:sp>
      <p:sp>
        <p:nvSpPr>
          <p:cNvPr id="23" name="">
            <a:extLst xmlns:a="http://schemas.openxmlformats.org/drawingml/2006/main">
              <a:ext uri="{FF2B5EF4-FFF2-40B4-BE49-F238E27FC236}">
                <a16:creationId xmlns:a16="http://schemas.microsoft.com/office/drawing/2014/main" id="{DD644AA2-489A-47CE-9DB5-BD3C42E281C5}"/>
              </a:ext>
            </a:extLst>
          </p:cNvPr>
          <p:cNvSpPr>
            <a:spLocks xmlns:a="http://schemas.openxmlformats.org/drawingml/2006/main" noGrp="1"/>
          </p:cNvSpPr>
          <p:nvPr/>
        </p:nvSpPr>
        <p:spPr>
          <a:xfrm xmlns:a="http://schemas.openxmlformats.org/drawingml/2006/main">
            <a:off x="4381500" y="4057650"/>
            <a:ext cx="3238500" cy="76200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EC216C6-3724-4D7E-8BEF-9B68B9043F5C}"/>
              </a:ext>
            </a:extLst>
          </p:cNvPr>
          <p:cNvSpPr>
            <a:spLocks xmlns:a="http://schemas.openxmlformats.org/drawingml/2006/main" noGrp="1"/>
          </p:cNvSpPr>
          <p:nvPr/>
        </p:nvSpPr>
        <p:spPr>
          <a:xfrm xmlns:a="http://schemas.openxmlformats.org/drawingml/2006/main">
            <a:off x="4552950" y="42672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HR API :8081</a:t>
            </a:r>
          </a:p>
        </p:txBody>
      </p:sp>
      <p:sp>
        <p:nvSpPr>
          <p:cNvPr id="25" name="">
            <a:extLst xmlns:a="http://schemas.openxmlformats.org/drawingml/2006/main">
              <a:ext uri="{FF2B5EF4-FFF2-40B4-BE49-F238E27FC236}">
                <a16:creationId xmlns:a16="http://schemas.microsoft.com/office/drawing/2014/main" id="{433CC075-CE6F-4B94-902A-370BA01F3C78}"/>
              </a:ext>
            </a:extLst>
          </p:cNvPr>
          <p:cNvSpPr>
            <a:spLocks xmlns:a="http://schemas.openxmlformats.org/drawingml/2006/main" noGrp="1"/>
          </p:cNvSpPr>
          <p:nvPr/>
        </p:nvSpPr>
        <p:spPr>
          <a:xfrm xmlns:a="http://schemas.openxmlformats.org/drawingml/2006/main">
            <a:off x="8382000" y="4057650"/>
            <a:ext cx="3238500" cy="76200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231A280-2344-4C3B-BA20-BAF2886CFA5C}"/>
              </a:ext>
            </a:extLst>
          </p:cNvPr>
          <p:cNvSpPr>
            <a:spLocks xmlns:a="http://schemas.openxmlformats.org/drawingml/2006/main" noGrp="1"/>
          </p:cNvSpPr>
          <p:nvPr/>
        </p:nvSpPr>
        <p:spPr>
          <a:xfrm xmlns:a="http://schemas.openxmlformats.org/drawingml/2006/main">
            <a:off x="8553450" y="42672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Markdown data</a:t>
            </a:r>
          </a:p>
        </p:txBody>
      </p:sp>
      <p:sp>
        <p:nvSpPr>
          <p:cNvPr id="27" name="">
            <a:extLst xmlns:a="http://schemas.openxmlformats.org/drawingml/2006/main">
              <a:ext uri="{FF2B5EF4-FFF2-40B4-BE49-F238E27FC236}">
                <a16:creationId xmlns:a16="http://schemas.microsoft.com/office/drawing/2014/main" id="{04B020C4-BD65-489A-BE51-226A7FC3F904}"/>
              </a:ext>
            </a:extLst>
          </p:cNvPr>
          <p:cNvSpPr>
            <a:spLocks xmlns:a="http://schemas.openxmlformats.org/drawingml/2006/main" noGrp="1"/>
          </p:cNvSpPr>
          <p:nvPr/>
        </p:nvSpPr>
        <p:spPr>
          <a:xfrm xmlns:a="http://schemas.openxmlformats.org/drawingml/2006/main">
            <a:off x="400050" y="53911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000000"/>
                </a:solidFill>
              </a:defRPr>
            </a:pPr>
            <a:r>
              <a:rPr sz="2025" b="0">
                <a:solidFill>
                  <a:srgbClr val="000000"/>
                </a:solidFill>
              </a:rPr>
              <a:t>OAuth option: Keycloak :8086  •  Direct MCP clients: :8084/mcp</a:t>
            </a:r>
          </a:p>
        </p:txBody>
      </p:sp>
      <p:sp>
        <p:nvSpPr>
          <p:cNvPr id="28" name="">
            <a:extLst xmlns:a="http://schemas.openxmlformats.org/drawingml/2006/main">
              <a:ext uri="{FF2B5EF4-FFF2-40B4-BE49-F238E27FC236}">
                <a16:creationId xmlns:a16="http://schemas.microsoft.com/office/drawing/2014/main" id="{4E77556E-D4F2-4DC6-890E-2FAD7327B2BE}"/>
              </a:ext>
            </a:extLst>
          </p:cNvPr>
          <p:cNvSpPr>
            <a:spLocks xmlns:a="http://schemas.openxmlformats.org/drawingml/2006/main" noGrp="1"/>
          </p:cNvSpPr>
          <p:nvPr/>
        </p:nvSpPr>
        <p:spPr>
          <a:xfrm xmlns:a="http://schemas.openxmlformats.org/drawingml/2006/main">
            <a:off x="400050" y="58864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000000"/>
                </a:solidFill>
              </a:defRPr>
            </a:pPr>
            <a:r>
              <a:rPr sz="1725" b="0">
                <a:solidFill>
                  <a:srgbClr val="000000"/>
                </a:solidFill>
              </a:rPr>
              <a:t>Bookings and employee data are not synchronized across variants.</a:t>
            </a:r>
          </a:p>
        </p:txBody>
      </p:sp>
    </p:spTree>
    <p:extLst>
      <p:ext uri="{BB962C8B-B14F-4D97-AF65-F5344CB8AC3E}">
        <p14:creationId xmlns:p14="http://schemas.microsoft.com/office/powerpoint/2010/main" val="15765113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84E9F4A-5E53-4987-95B2-3C0E1BDF0C42}"/>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Booking requests follow two parallel paths</a:t>
            </a:r>
          </a:p>
        </p:txBody>
      </p:sp>
      <p:sp>
        <p:nvSpPr>
          <p:cNvPr id="2" name="">
            <a:extLst xmlns:a="http://schemas.openxmlformats.org/drawingml/2006/main">
              <a:ext uri="{FF2B5EF4-FFF2-40B4-BE49-F238E27FC236}">
                <a16:creationId xmlns:a16="http://schemas.microsoft.com/office/drawing/2014/main" id="{DE73828E-3435-4504-8081-654D6ED4C159}"/>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04</a:t>
            </a:r>
          </a:p>
        </p:txBody>
      </p:sp>
      <p:sp>
        <p:nvSpPr>
          <p:cNvPr id="9" name="">
            <a:extLst xmlns:a="http://schemas.openxmlformats.org/drawingml/2006/main">
              <a:ext uri="{FF2B5EF4-FFF2-40B4-BE49-F238E27FC236}">
                <a16:creationId xmlns:a16="http://schemas.microsoft.com/office/drawing/2014/main" id="{CCCF12D9-D1B2-4D97-8E50-DD71DFEAC020}"/>
              </a:ext>
            </a:extLst>
          </p:cNvPr>
          <p:cNvSpPr>
            <a:spLocks xmlns:a="http://schemas.openxmlformats.org/drawingml/2006/main" noGrp="1"/>
          </p:cNvSpPr>
          <p:nvPr/>
        </p:nvSpPr>
        <p:spPr>
          <a:xfrm xmlns:a="http://schemas.openxmlformats.org/drawingml/2006/main">
            <a:off x="400050" y="2000250"/>
            <a:ext cx="2143125"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6DE383-B3F9-49A7-AF0F-1722B8108687}"/>
              </a:ext>
            </a:extLst>
          </p:cNvPr>
          <p:cNvSpPr>
            <a:spLocks xmlns:a="http://schemas.openxmlformats.org/drawingml/2006/main" noGrp="1"/>
          </p:cNvSpPr>
          <p:nvPr/>
        </p:nvSpPr>
        <p:spPr>
          <a:xfrm xmlns:a="http://schemas.openxmlformats.org/drawingml/2006/main">
            <a:off x="571500" y="2114550"/>
            <a:ext cx="1800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Browser</a:t>
            </a:r>
          </a:p>
          <a:p xmlns:a="http://schemas.openxmlformats.org/drawingml/2006/main">
            <a:pPr>
              <a:buNone/>
              <a:defRPr sz="2100" b="1">
                <a:solidFill>
                  <a:srgbClr val="000000"/>
                </a:solidFill>
              </a:defRPr>
            </a:pPr>
            <a:r>
              <a:rPr sz="2100" b="1">
                <a:solidFill>
                  <a:srgbClr val="000000"/>
                </a:solidFill>
              </a:rPr>
              <a:t>REST journey</a:t>
            </a:r>
          </a:p>
        </p:txBody>
      </p:sp>
      <p:sp>
        <p:nvSpPr>
          <p:cNvPr id="11" name="">
            <a:extLst xmlns:a="http://schemas.openxmlformats.org/drawingml/2006/main">
              <a:ext uri="{FF2B5EF4-FFF2-40B4-BE49-F238E27FC236}">
                <a16:creationId xmlns:a16="http://schemas.microsoft.com/office/drawing/2014/main" id="{B8D864A9-87C3-44F5-9D40-431CF13492CD}"/>
              </a:ext>
            </a:extLst>
          </p:cNvPr>
          <p:cNvSpPr>
            <a:spLocks xmlns:a="http://schemas.openxmlformats.org/drawingml/2006/main" noGrp="1"/>
          </p:cNvSpPr>
          <p:nvPr/>
        </p:nvSpPr>
        <p:spPr>
          <a:xfrm xmlns:a="http://schemas.openxmlformats.org/drawingml/2006/main">
            <a:off x="3429000" y="2000250"/>
            <a:ext cx="2143125"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0FB79D7-BC0F-4A93-9A0A-D908191BF56E}"/>
              </a:ext>
            </a:extLst>
          </p:cNvPr>
          <p:cNvSpPr>
            <a:spLocks xmlns:a="http://schemas.openxmlformats.org/drawingml/2006/main" noGrp="1"/>
          </p:cNvSpPr>
          <p:nvPr/>
        </p:nvSpPr>
        <p:spPr>
          <a:xfrm xmlns:a="http://schemas.openxmlformats.org/drawingml/2006/main">
            <a:off x="3600450" y="2114550"/>
            <a:ext cx="1800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Flask UI</a:t>
            </a:r>
          </a:p>
          <a:p xmlns:a="http://schemas.openxmlformats.org/drawingml/2006/main">
            <a:pPr>
              <a:buNone/>
              <a:defRPr sz="2100" b="1">
                <a:solidFill>
                  <a:srgbClr val="000000"/>
                </a:solidFill>
              </a:defRPr>
            </a:pPr>
            <a:r>
              <a:rPr sz="2100" b="1">
                <a:solidFill>
                  <a:srgbClr val="000000"/>
                </a:solidFill>
              </a:rPr>
              <a:t>:8083</a:t>
            </a:r>
          </a:p>
        </p:txBody>
      </p:sp>
      <p:sp>
        <p:nvSpPr>
          <p:cNvPr id="13" name="">
            <a:extLst xmlns:a="http://schemas.openxmlformats.org/drawingml/2006/main">
              <a:ext uri="{FF2B5EF4-FFF2-40B4-BE49-F238E27FC236}">
                <a16:creationId xmlns:a16="http://schemas.microsoft.com/office/drawing/2014/main" id="{65AE7E24-44C1-4895-BFC7-1846A28133A8}"/>
              </a:ext>
            </a:extLst>
          </p:cNvPr>
          <p:cNvSpPr>
            <a:spLocks xmlns:a="http://schemas.openxmlformats.org/drawingml/2006/main" noGrp="1"/>
          </p:cNvSpPr>
          <p:nvPr/>
        </p:nvSpPr>
        <p:spPr>
          <a:xfrm xmlns:a="http://schemas.openxmlformats.org/drawingml/2006/main">
            <a:off x="6457950" y="2000250"/>
            <a:ext cx="2143125"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770C5D-32EA-48A8-AB53-2916043BCE94}"/>
              </a:ext>
            </a:extLst>
          </p:cNvPr>
          <p:cNvSpPr>
            <a:spLocks xmlns:a="http://schemas.openxmlformats.org/drawingml/2006/main" noGrp="1"/>
          </p:cNvSpPr>
          <p:nvPr/>
        </p:nvSpPr>
        <p:spPr>
          <a:xfrm xmlns:a="http://schemas.openxmlformats.org/drawingml/2006/main">
            <a:off x="6629400" y="2114550"/>
            <a:ext cx="1800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FastAPI</a:t>
            </a:r>
          </a:p>
          <a:p xmlns:a="http://schemas.openxmlformats.org/drawingml/2006/main">
            <a:pPr>
              <a:buNone/>
              <a:defRPr sz="2100" b="1">
                <a:solidFill>
                  <a:srgbClr val="000000"/>
                </a:solidFill>
              </a:defRPr>
            </a:pPr>
            <a:r>
              <a:rPr sz="2100" b="1">
                <a:solidFill>
                  <a:srgbClr val="000000"/>
                </a:solidFill>
              </a:rPr>
              <a:t>:8082</a:t>
            </a:r>
          </a:p>
        </p:txBody>
      </p:sp>
      <p:sp>
        <p:nvSpPr>
          <p:cNvPr id="15" name="">
            <a:extLst xmlns:a="http://schemas.openxmlformats.org/drawingml/2006/main">
              <a:ext uri="{FF2B5EF4-FFF2-40B4-BE49-F238E27FC236}">
                <a16:creationId xmlns:a16="http://schemas.microsoft.com/office/drawing/2014/main" id="{F9D2DDA2-B445-4FE1-8235-2E17B6DCF9FF}"/>
              </a:ext>
            </a:extLst>
          </p:cNvPr>
          <p:cNvSpPr>
            <a:spLocks xmlns:a="http://schemas.openxmlformats.org/drawingml/2006/main" noGrp="1"/>
          </p:cNvSpPr>
          <p:nvPr/>
        </p:nvSpPr>
        <p:spPr>
          <a:xfrm xmlns:a="http://schemas.openxmlformats.org/drawingml/2006/main">
            <a:off x="9486900" y="2000250"/>
            <a:ext cx="2143125"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BC6D76-8411-4640-852A-9EB1CB2C1EDD}"/>
              </a:ext>
            </a:extLst>
          </p:cNvPr>
          <p:cNvSpPr>
            <a:spLocks xmlns:a="http://schemas.openxmlformats.org/drawingml/2006/main" noGrp="1"/>
          </p:cNvSpPr>
          <p:nvPr/>
        </p:nvSpPr>
        <p:spPr>
          <a:xfrm xmlns:a="http://schemas.openxmlformats.org/drawingml/2006/main">
            <a:off x="9658350" y="2114550"/>
            <a:ext cx="1800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REST</a:t>
            </a:r>
          </a:p>
          <a:p xmlns:a="http://schemas.openxmlformats.org/drawingml/2006/main">
            <a:pPr>
              <a:buNone/>
              <a:defRPr sz="2100" b="1">
                <a:solidFill>
                  <a:srgbClr val="000000"/>
                </a:solidFill>
              </a:defRPr>
            </a:pPr>
            <a:r>
              <a:rPr sz="2100" b="1">
                <a:solidFill>
                  <a:srgbClr val="000000"/>
                </a:solidFill>
              </a:rPr>
              <a:t>SQLite</a:t>
            </a:r>
          </a:p>
        </p:txBody>
      </p:sp>
      <p:sp>
        <p:nvSpPr>
          <p:cNvPr id="17" name="">
            <a:extLst xmlns:a="http://schemas.openxmlformats.org/drawingml/2006/main">
              <a:ext uri="{FF2B5EF4-FFF2-40B4-BE49-F238E27FC236}">
                <a16:creationId xmlns:a16="http://schemas.microsoft.com/office/drawing/2014/main" id="{26AA9464-9DD9-432E-99D7-3A78A8A4A8AA}"/>
              </a:ext>
            </a:extLst>
          </p:cNvPr>
          <p:cNvSpPr>
            <a:spLocks xmlns:a="http://schemas.openxmlformats.org/drawingml/2006/main" noGrp="1"/>
          </p:cNvSpPr>
          <p:nvPr/>
        </p:nvSpPr>
        <p:spPr>
          <a:xfrm xmlns:a="http://schemas.openxmlformats.org/drawingml/2006/main">
            <a:off x="400050" y="3619500"/>
            <a:ext cx="2143125"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373A548-FABE-4C43-A89D-299E82A3732A}"/>
              </a:ext>
            </a:extLst>
          </p:cNvPr>
          <p:cNvSpPr>
            <a:spLocks xmlns:a="http://schemas.openxmlformats.org/drawingml/2006/main" noGrp="1"/>
          </p:cNvSpPr>
          <p:nvPr/>
        </p:nvSpPr>
        <p:spPr>
          <a:xfrm xmlns:a="http://schemas.openxmlformats.org/drawingml/2006/main">
            <a:off x="571500" y="3733800"/>
            <a:ext cx="1800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Browser</a:t>
            </a:r>
          </a:p>
          <a:p xmlns:a="http://schemas.openxmlformats.org/drawingml/2006/main">
            <a:pPr>
              <a:buNone/>
              <a:defRPr sz="2100" b="1">
                <a:solidFill>
                  <a:srgbClr val="000000"/>
                </a:solidFill>
              </a:defRPr>
            </a:pPr>
            <a:r>
              <a:rPr sz="2100" b="1">
                <a:solidFill>
                  <a:srgbClr val="000000"/>
                </a:solidFill>
              </a:rPr>
              <a:t>MCP journey</a:t>
            </a:r>
          </a:p>
        </p:txBody>
      </p:sp>
      <p:sp>
        <p:nvSpPr>
          <p:cNvPr id="19" name="">
            <a:extLst xmlns:a="http://schemas.openxmlformats.org/drawingml/2006/main">
              <a:ext uri="{FF2B5EF4-FFF2-40B4-BE49-F238E27FC236}">
                <a16:creationId xmlns:a16="http://schemas.microsoft.com/office/drawing/2014/main" id="{5993CB56-AB11-460F-9D86-BBCA4841ADC2}"/>
              </a:ext>
            </a:extLst>
          </p:cNvPr>
          <p:cNvSpPr>
            <a:spLocks xmlns:a="http://schemas.openxmlformats.org/drawingml/2006/main" noGrp="1"/>
          </p:cNvSpPr>
          <p:nvPr/>
        </p:nvSpPr>
        <p:spPr>
          <a:xfrm xmlns:a="http://schemas.openxmlformats.org/drawingml/2006/main">
            <a:off x="3429000" y="3619500"/>
            <a:ext cx="2143125"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D94E6AB-DBC9-47F9-BE39-EEBFEE34B9FC}"/>
              </a:ext>
            </a:extLst>
          </p:cNvPr>
          <p:cNvSpPr>
            <a:spLocks xmlns:a="http://schemas.openxmlformats.org/drawingml/2006/main" noGrp="1"/>
          </p:cNvSpPr>
          <p:nvPr/>
        </p:nvSpPr>
        <p:spPr>
          <a:xfrm xmlns:a="http://schemas.openxmlformats.org/drawingml/2006/main">
            <a:off x="3600450" y="3733800"/>
            <a:ext cx="1800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Flask UI</a:t>
            </a:r>
          </a:p>
          <a:p xmlns:a="http://schemas.openxmlformats.org/drawingml/2006/main">
            <a:pPr>
              <a:buNone/>
              <a:defRPr sz="2100" b="1">
                <a:solidFill>
                  <a:srgbClr val="000000"/>
                </a:solidFill>
              </a:defRPr>
            </a:pPr>
            <a:r>
              <a:rPr sz="2100" b="1">
                <a:solidFill>
                  <a:srgbClr val="000000"/>
                </a:solidFill>
              </a:rPr>
              <a:t>:8085</a:t>
            </a:r>
          </a:p>
        </p:txBody>
      </p:sp>
      <p:sp>
        <p:nvSpPr>
          <p:cNvPr id="21" name="">
            <a:extLst xmlns:a="http://schemas.openxmlformats.org/drawingml/2006/main">
              <a:ext uri="{FF2B5EF4-FFF2-40B4-BE49-F238E27FC236}">
                <a16:creationId xmlns:a16="http://schemas.microsoft.com/office/drawing/2014/main" id="{488DB7C5-1759-4090-820F-03F15F04B7A5}"/>
              </a:ext>
            </a:extLst>
          </p:cNvPr>
          <p:cNvSpPr>
            <a:spLocks xmlns:a="http://schemas.openxmlformats.org/drawingml/2006/main" noGrp="1"/>
          </p:cNvSpPr>
          <p:nvPr/>
        </p:nvSpPr>
        <p:spPr>
          <a:xfrm xmlns:a="http://schemas.openxmlformats.org/drawingml/2006/main">
            <a:off x="6457950" y="3619500"/>
            <a:ext cx="2143125"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C4E6F91-7F4D-4A91-A4EE-F564B0F81273}"/>
              </a:ext>
            </a:extLst>
          </p:cNvPr>
          <p:cNvSpPr>
            <a:spLocks xmlns:a="http://schemas.openxmlformats.org/drawingml/2006/main" noGrp="1"/>
          </p:cNvSpPr>
          <p:nvPr/>
        </p:nvSpPr>
        <p:spPr>
          <a:xfrm xmlns:a="http://schemas.openxmlformats.org/drawingml/2006/main">
            <a:off x="6629400" y="3733800"/>
            <a:ext cx="1800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FastMCP</a:t>
            </a:r>
          </a:p>
          <a:p xmlns:a="http://schemas.openxmlformats.org/drawingml/2006/main">
            <a:pPr>
              <a:buNone/>
              <a:defRPr sz="2100" b="1">
                <a:solidFill>
                  <a:srgbClr val="000000"/>
                </a:solidFill>
              </a:defRPr>
            </a:pPr>
            <a:r>
              <a:rPr sz="2100" b="1">
                <a:solidFill>
                  <a:srgbClr val="000000"/>
                </a:solidFill>
              </a:rPr>
              <a:t>:8084/mcp</a:t>
            </a:r>
          </a:p>
        </p:txBody>
      </p:sp>
      <p:sp>
        <p:nvSpPr>
          <p:cNvPr id="23" name="">
            <a:extLst xmlns:a="http://schemas.openxmlformats.org/drawingml/2006/main">
              <a:ext uri="{FF2B5EF4-FFF2-40B4-BE49-F238E27FC236}">
                <a16:creationId xmlns:a16="http://schemas.microsoft.com/office/drawing/2014/main" id="{DD644AA2-489A-47CE-9DB5-BD3C42E281C5}"/>
              </a:ext>
            </a:extLst>
          </p:cNvPr>
          <p:cNvSpPr>
            <a:spLocks xmlns:a="http://schemas.openxmlformats.org/drawingml/2006/main" noGrp="1"/>
          </p:cNvSpPr>
          <p:nvPr/>
        </p:nvSpPr>
        <p:spPr>
          <a:xfrm xmlns:a="http://schemas.openxmlformats.org/drawingml/2006/main">
            <a:off x="9486900" y="3619500"/>
            <a:ext cx="2143125"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EC216C6-3724-4D7E-8BEF-9B68B9043F5C}"/>
              </a:ext>
            </a:extLst>
          </p:cNvPr>
          <p:cNvSpPr>
            <a:spLocks xmlns:a="http://schemas.openxmlformats.org/drawingml/2006/main" noGrp="1"/>
          </p:cNvSpPr>
          <p:nvPr/>
        </p:nvSpPr>
        <p:spPr>
          <a:xfrm xmlns:a="http://schemas.openxmlformats.org/drawingml/2006/main">
            <a:off x="9658350" y="3733800"/>
            <a:ext cx="1800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MCP</a:t>
            </a:r>
          </a:p>
          <a:p xmlns:a="http://schemas.openxmlformats.org/drawingml/2006/main">
            <a:pPr>
              <a:buNone/>
              <a:defRPr sz="2100" b="1">
                <a:solidFill>
                  <a:srgbClr val="000000"/>
                </a:solidFill>
              </a:defRPr>
            </a:pPr>
            <a:r>
              <a:rPr sz="2100" b="1">
                <a:solidFill>
                  <a:srgbClr val="000000"/>
                </a:solidFill>
              </a:rPr>
              <a:t>SQLite</a:t>
            </a:r>
          </a:p>
        </p:txBody>
      </p:sp>
      <p:sp>
        <p:nvSpPr>
          <p:cNvPr id="25" name="">
            <a:extLst xmlns:a="http://schemas.openxmlformats.org/drawingml/2006/main">
              <a:ext uri="{FF2B5EF4-FFF2-40B4-BE49-F238E27FC236}">
                <a16:creationId xmlns:a16="http://schemas.microsoft.com/office/drawing/2014/main" id="{433CC075-CE6F-4B94-902A-370BA01F3C78}"/>
              </a:ext>
            </a:extLst>
          </p:cNvPr>
          <p:cNvSpPr>
            <a:spLocks xmlns:a="http://schemas.openxmlformats.org/drawingml/2006/main" noGrp="1"/>
          </p:cNvSpPr>
          <p:nvPr/>
        </p:nvSpPr>
        <p:spPr>
          <a:xfrm xmlns:a="http://schemas.openxmlformats.org/drawingml/2006/main">
            <a:off x="6457950" y="4914900"/>
            <a:ext cx="2143125" cy="5524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231A280-2344-4C3B-BA20-BAF2886CFA5C}"/>
              </a:ext>
            </a:extLst>
          </p:cNvPr>
          <p:cNvSpPr>
            <a:spLocks xmlns:a="http://schemas.openxmlformats.org/drawingml/2006/main" noGrp="1"/>
          </p:cNvSpPr>
          <p:nvPr/>
        </p:nvSpPr>
        <p:spPr>
          <a:xfrm xmlns:a="http://schemas.openxmlformats.org/drawingml/2006/main">
            <a:off x="6629400" y="5029200"/>
            <a:ext cx="1800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MCP client</a:t>
            </a:r>
          </a:p>
        </p:txBody>
      </p:sp>
      <p:sp>
        <p:nvSpPr>
          <p:cNvPr id="27" name="">
            <a:extLst xmlns:a="http://schemas.openxmlformats.org/drawingml/2006/main">
              <a:ext uri="{FF2B5EF4-FFF2-40B4-BE49-F238E27FC236}">
                <a16:creationId xmlns:a16="http://schemas.microsoft.com/office/drawing/2014/main" id="{04B020C4-BD65-489A-BE51-226A7FC3F904}"/>
              </a:ext>
            </a:extLst>
          </p:cNvPr>
          <p:cNvSpPr>
            <a:spLocks xmlns:a="http://schemas.openxmlformats.org/drawingml/2006/main" noGrp="1"/>
          </p:cNvSpPr>
          <p:nvPr/>
        </p:nvSpPr>
        <p:spPr>
          <a:xfrm xmlns:a="http://schemas.openxmlformats.org/drawingml/2006/main">
            <a:off x="400050" y="5619750"/>
            <a:ext cx="1139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000000"/>
                </a:solidFill>
              </a:defRPr>
            </a:pPr>
            <a:r>
              <a:rPr sz="2025" b="0">
                <a:solidFill>
                  <a:srgbClr val="000000"/>
                </a:solidFill>
              </a:rPr>
              <a:t>REST uses HTTP JSON; MCP uses Streamable HTTP.</a:t>
            </a:r>
          </a:p>
        </p:txBody>
      </p:sp>
      <p:sp>
        <p:nvSpPr>
          <p:cNvPr id="28" name="">
            <a:extLst xmlns:a="http://schemas.openxmlformats.org/drawingml/2006/main">
              <a:ext uri="{FF2B5EF4-FFF2-40B4-BE49-F238E27FC236}">
                <a16:creationId xmlns:a16="http://schemas.microsoft.com/office/drawing/2014/main" id="{4E77556E-D4F2-4DC6-890E-2FAD7327B2BE}"/>
              </a:ext>
            </a:extLst>
          </p:cNvPr>
          <p:cNvSpPr>
            <a:spLocks xmlns:a="http://schemas.openxmlformats.org/drawingml/2006/main" noGrp="1"/>
          </p:cNvSpPr>
          <p:nvPr/>
        </p:nvSpPr>
        <p:spPr>
          <a:xfrm xmlns:a="http://schemas.openxmlformats.org/drawingml/2006/main">
            <a:off x="400050" y="6019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000000"/>
                </a:solidFill>
              </a:defRPr>
            </a:pPr>
            <a:r>
              <a:rPr sz="1725" b="0">
                <a:solidFill>
                  <a:srgbClr val="000000"/>
                </a:solidFill>
              </a:rPr>
              <a:t>Independent databases; responses return along the same request path.</a:t>
            </a:r>
          </a:p>
        </p:txBody>
      </p:sp>
      <p:cxnSp>
        <p:nvCxnSpPr>
          <p:cNvPr id="66" name=""/>
          <p:cNvCxnSpPr>
            <a:stCxn xmlns:a="http://schemas.openxmlformats.org/drawingml/2006/main" id="9" idx="3"/>
            <a:endCxn xmlns:a="http://schemas.openxmlformats.org/drawingml/2006/main" id="11" idx="1"/>
          </p:cNvCxnSpPr>
          <p:nvPr/>
        </p:nvCxnSpPr>
        <p:spPr>
          <a:xfrm xmlns:a="http://schemas.openxmlformats.org/drawingml/2006/main">
            <a:off x="2543175" y="2409825"/>
            <a:ext cx="885825"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67" name=""/>
          <p:cNvCxnSpPr>
            <a:stCxn xmlns:a="http://schemas.openxmlformats.org/drawingml/2006/main" id="11" idx="3"/>
            <a:endCxn xmlns:a="http://schemas.openxmlformats.org/drawingml/2006/main" id="13" idx="1"/>
          </p:cNvCxnSpPr>
          <p:nvPr/>
        </p:nvCxnSpPr>
        <p:spPr>
          <a:xfrm xmlns:a="http://schemas.openxmlformats.org/drawingml/2006/main">
            <a:off x="5572125" y="2409825"/>
            <a:ext cx="885825"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68" name=""/>
          <p:cNvCxnSpPr>
            <a:stCxn xmlns:a="http://schemas.openxmlformats.org/drawingml/2006/main" id="13" idx="3"/>
            <a:endCxn xmlns:a="http://schemas.openxmlformats.org/drawingml/2006/main" id="15" idx="1"/>
          </p:cNvCxnSpPr>
          <p:nvPr/>
        </p:nvCxnSpPr>
        <p:spPr>
          <a:xfrm xmlns:a="http://schemas.openxmlformats.org/drawingml/2006/main">
            <a:off x="8601075" y="2409825"/>
            <a:ext cx="885825"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69" name=""/>
          <p:cNvCxnSpPr>
            <a:stCxn xmlns:a="http://schemas.openxmlformats.org/drawingml/2006/main" id="17" idx="3"/>
            <a:endCxn xmlns:a="http://schemas.openxmlformats.org/drawingml/2006/main" id="19" idx="1"/>
          </p:cNvCxnSpPr>
          <p:nvPr/>
        </p:nvCxnSpPr>
        <p:spPr>
          <a:xfrm xmlns:a="http://schemas.openxmlformats.org/drawingml/2006/main">
            <a:off x="2543175" y="4029075"/>
            <a:ext cx="885825"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70" name=""/>
          <p:cNvCxnSpPr>
            <a:stCxn xmlns:a="http://schemas.openxmlformats.org/drawingml/2006/main" id="19" idx="3"/>
            <a:endCxn xmlns:a="http://schemas.openxmlformats.org/drawingml/2006/main" id="21" idx="1"/>
          </p:cNvCxnSpPr>
          <p:nvPr/>
        </p:nvCxnSpPr>
        <p:spPr>
          <a:xfrm xmlns:a="http://schemas.openxmlformats.org/drawingml/2006/main">
            <a:off x="5572125" y="4029075"/>
            <a:ext cx="885825"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71" name=""/>
          <p:cNvCxnSpPr>
            <a:stCxn xmlns:a="http://schemas.openxmlformats.org/drawingml/2006/main" id="21" idx="3"/>
            <a:endCxn xmlns:a="http://schemas.openxmlformats.org/drawingml/2006/main" id="23" idx="1"/>
          </p:cNvCxnSpPr>
          <p:nvPr/>
        </p:nvCxnSpPr>
        <p:spPr>
          <a:xfrm xmlns:a="http://schemas.openxmlformats.org/drawingml/2006/main">
            <a:off x="8601075" y="4029075"/>
            <a:ext cx="885825"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72" name=""/>
          <p:cNvCxnSpPr>
            <a:stCxn xmlns:a="http://schemas.openxmlformats.org/drawingml/2006/main" id="25" idx="0"/>
            <a:endCxn xmlns:a="http://schemas.openxmlformats.org/drawingml/2006/main" id="21" idx="2"/>
          </p:cNvCxnSpPr>
          <p:nvPr/>
        </p:nvCxnSpPr>
        <p:spPr>
          <a:xfrm xmlns:a="http://schemas.openxmlformats.org/drawingml/2006/main" flipV="1">
            <a:off x="7529513" y="4438650"/>
            <a:ext cx="0" cy="47625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sp>
        <p:nvSpPr>
          <p:cNvPr id="37" name="Browser action">
            <a:extLst xmlns:a="http://schemas.openxmlformats.org/drawingml/2006/main">
              <a:ext uri="{FF2B5EF4-FFF2-40B4-BE49-F238E27FC236}">
                <a16:creationId xmlns:a16="http://schemas.microsoft.com/office/drawing/2014/main" id="{3D6D3B51-C67F-4E47-8C5C-AE71EA6DE5C4}"/>
              </a:ext>
            </a:extLst>
          </p:cNvPr>
          <p:cNvSpPr>
            <a:spLocks xmlns:a="http://schemas.openxmlformats.org/drawingml/2006/main" noGrp="1"/>
          </p:cNvSpPr>
          <p:nvPr/>
        </p:nvSpPr>
        <p:spPr>
          <a:xfrm xmlns:a="http://schemas.openxmlformats.org/drawingml/2006/main">
            <a:off x="2552700" y="1666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Browser action</a:t>
            </a:r>
          </a:p>
        </p:txBody>
      </p:sp>
      <p:sp>
        <p:nvSpPr>
          <p:cNvPr id="38" name="HTTP JSON">
            <a:extLst xmlns:a="http://schemas.openxmlformats.org/drawingml/2006/main">
              <a:ext uri="{FF2B5EF4-FFF2-40B4-BE49-F238E27FC236}">
                <a16:creationId xmlns:a16="http://schemas.microsoft.com/office/drawing/2014/main" id="{A34B98F7-E4DF-44C7-89BC-13C02AA984FD}"/>
              </a:ext>
            </a:extLst>
          </p:cNvPr>
          <p:cNvSpPr>
            <a:spLocks xmlns:a="http://schemas.openxmlformats.org/drawingml/2006/main" noGrp="1"/>
          </p:cNvSpPr>
          <p:nvPr/>
        </p:nvSpPr>
        <p:spPr>
          <a:xfrm xmlns:a="http://schemas.openxmlformats.org/drawingml/2006/main">
            <a:off x="5476875" y="1666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HTTP JSON</a:t>
            </a:r>
          </a:p>
        </p:txBody>
      </p:sp>
      <p:sp>
        <p:nvSpPr>
          <p:cNvPr id="39" name="SQL">
            <a:extLst xmlns:a="http://schemas.openxmlformats.org/drawingml/2006/main">
              <a:ext uri="{FF2B5EF4-FFF2-40B4-BE49-F238E27FC236}">
                <a16:creationId xmlns:a16="http://schemas.microsoft.com/office/drawing/2014/main" id="{CF8BB746-9B12-450F-B113-B1BA8CEC3BD2}"/>
              </a:ext>
            </a:extLst>
          </p:cNvPr>
          <p:cNvSpPr>
            <a:spLocks xmlns:a="http://schemas.openxmlformats.org/drawingml/2006/main" noGrp="1"/>
          </p:cNvSpPr>
          <p:nvPr/>
        </p:nvSpPr>
        <p:spPr>
          <a:xfrm xmlns:a="http://schemas.openxmlformats.org/drawingml/2006/main">
            <a:off x="8896350" y="166687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SQL</a:t>
            </a:r>
          </a:p>
        </p:txBody>
      </p:sp>
      <p:sp>
        <p:nvSpPr>
          <p:cNvPr id="40" name="Browser action">
            <a:extLst xmlns:a="http://schemas.openxmlformats.org/drawingml/2006/main">
              <a:ext uri="{FF2B5EF4-FFF2-40B4-BE49-F238E27FC236}">
                <a16:creationId xmlns:a16="http://schemas.microsoft.com/office/drawing/2014/main" id="{799F213E-41B7-43ED-B22D-3BD247C8FA02}"/>
              </a:ext>
            </a:extLst>
          </p:cNvPr>
          <p:cNvSpPr>
            <a:spLocks xmlns:a="http://schemas.openxmlformats.org/drawingml/2006/main" noGrp="1"/>
          </p:cNvSpPr>
          <p:nvPr/>
        </p:nvSpPr>
        <p:spPr>
          <a:xfrm xmlns:a="http://schemas.openxmlformats.org/drawingml/2006/main">
            <a:off x="2552700" y="32861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Browser action</a:t>
            </a:r>
          </a:p>
        </p:txBody>
      </p:sp>
      <p:sp>
        <p:nvSpPr>
          <p:cNvPr id="41" name="MCP tool call">
            <a:extLst xmlns:a="http://schemas.openxmlformats.org/drawingml/2006/main">
              <a:ext uri="{FF2B5EF4-FFF2-40B4-BE49-F238E27FC236}">
                <a16:creationId xmlns:a16="http://schemas.microsoft.com/office/drawing/2014/main" id="{675E746B-72ED-4A62-868D-72D7F0D67E1C}"/>
              </a:ext>
            </a:extLst>
          </p:cNvPr>
          <p:cNvSpPr>
            <a:spLocks xmlns:a="http://schemas.openxmlformats.org/drawingml/2006/main" noGrp="1"/>
          </p:cNvSpPr>
          <p:nvPr/>
        </p:nvSpPr>
        <p:spPr>
          <a:xfrm xmlns:a="http://schemas.openxmlformats.org/drawingml/2006/main">
            <a:off x="5476875" y="32861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MCP tool call</a:t>
            </a:r>
          </a:p>
        </p:txBody>
      </p:sp>
      <p:sp>
        <p:nvSpPr>
          <p:cNvPr id="42" name="SQL">
            <a:extLst xmlns:a="http://schemas.openxmlformats.org/drawingml/2006/main">
              <a:ext uri="{FF2B5EF4-FFF2-40B4-BE49-F238E27FC236}">
                <a16:creationId xmlns:a16="http://schemas.microsoft.com/office/drawing/2014/main" id="{41A57768-ED48-43A9-A87A-355360CC20C7}"/>
              </a:ext>
            </a:extLst>
          </p:cNvPr>
          <p:cNvSpPr>
            <a:spLocks xmlns:a="http://schemas.openxmlformats.org/drawingml/2006/main" noGrp="1"/>
          </p:cNvSpPr>
          <p:nvPr/>
        </p:nvSpPr>
        <p:spPr>
          <a:xfrm xmlns:a="http://schemas.openxmlformats.org/drawingml/2006/main">
            <a:off x="8896350" y="32861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SQL</a:t>
            </a:r>
          </a:p>
        </p:txBody>
      </p:sp>
      <p:sp>
        <p:nvSpPr>
          <p:cNvPr id="43" name="Direct tool access">
            <a:extLst xmlns:a="http://schemas.openxmlformats.org/drawingml/2006/main">
              <a:ext uri="{FF2B5EF4-FFF2-40B4-BE49-F238E27FC236}">
                <a16:creationId xmlns:a16="http://schemas.microsoft.com/office/drawing/2014/main" id="{770B4FA1-45D0-4546-9D8A-A68A1D2579E4}"/>
              </a:ext>
            </a:extLst>
          </p:cNvPr>
          <p:cNvSpPr>
            <a:spLocks xmlns:a="http://schemas.openxmlformats.org/drawingml/2006/main" noGrp="1"/>
          </p:cNvSpPr>
          <p:nvPr/>
        </p:nvSpPr>
        <p:spPr>
          <a:xfrm xmlns:a="http://schemas.openxmlformats.org/drawingml/2006/main">
            <a:off x="8810625" y="50577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Direct tool access</a:t>
            </a:r>
          </a:p>
        </p:txBody>
      </p:sp>
    </p:spTree>
    <p:extLst>
      <p:ext uri="{BB962C8B-B14F-4D97-AF65-F5344CB8AC3E}">
        <p14:creationId xmlns:p14="http://schemas.microsoft.com/office/powerpoint/2010/main" val="15765113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5163C3-C5F0-4707-B40C-560153AFB6F9}"/>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REST and MCP expose equivalent actions</a:t>
            </a:r>
          </a:p>
        </p:txBody>
      </p:sp>
      <p:sp>
        <p:nvSpPr>
          <p:cNvPr id="2" name="">
            <a:extLst xmlns:a="http://schemas.openxmlformats.org/drawingml/2006/main">
              <a:ext uri="{FF2B5EF4-FFF2-40B4-BE49-F238E27FC236}">
                <a16:creationId xmlns:a16="http://schemas.microsoft.com/office/drawing/2014/main" id="{D3C5340C-4679-4493-9A2F-EBEB652932B9}"/>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05</a:t>
            </a:r>
          </a:p>
        </p:txBody>
      </p:sp>
      <p:sp>
        <p:nvSpPr>
          <p:cNvPr id="3" name="">
            <a:extLst xmlns:a="http://schemas.openxmlformats.org/drawingml/2006/main">
              <a:ext uri="{FF2B5EF4-FFF2-40B4-BE49-F238E27FC236}">
                <a16:creationId xmlns:a16="http://schemas.microsoft.com/office/drawing/2014/main" id="{B19331AC-3E51-4B55-9797-E39AB0B0AB45}"/>
              </a:ext>
            </a:extLst>
          </p:cNvPr>
          <p:cNvSpPr>
            <a:spLocks xmlns:a="http://schemas.openxmlformats.org/drawingml/2006/main" noGrp="1"/>
          </p:cNvSpPr>
          <p:nvPr/>
        </p:nvSpPr>
        <p:spPr>
          <a:xfrm xmlns:a="http://schemas.openxmlformats.org/drawingml/2006/main">
            <a:off x="400050" y="2028825"/>
            <a:ext cx="5534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REST endpoints</a:t>
            </a:r>
          </a:p>
        </p:txBody>
      </p:sp>
      <p:sp>
        <p:nvSpPr>
          <p:cNvPr id="4" name="">
            <a:extLst xmlns:a="http://schemas.openxmlformats.org/drawingml/2006/main">
              <a:ext uri="{FF2B5EF4-FFF2-40B4-BE49-F238E27FC236}">
                <a16:creationId xmlns:a16="http://schemas.microsoft.com/office/drawing/2014/main" id="{20E861F7-4151-4F52-A367-8606F1C6CB11}"/>
              </a:ext>
            </a:extLst>
          </p:cNvPr>
          <p:cNvSpPr>
            <a:spLocks xmlns:a="http://schemas.openxmlformats.org/drawingml/2006/main" noGrp="1"/>
          </p:cNvSpPr>
          <p:nvPr/>
        </p:nvSpPr>
        <p:spPr>
          <a:xfrm xmlns:a="http://schemas.openxmlformats.org/drawingml/2006/main">
            <a:off x="400050" y="2667000"/>
            <a:ext cx="55340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000000"/>
                </a:solidFill>
              </a:defRPr>
            </a:pPr>
            <a:r>
              <a:rPr sz="2175" b="0">
                <a:solidFill>
                  <a:srgbClr val="000000"/>
                </a:solidFill>
              </a:rPr>
              <a:t>HTTP requests to FastAPI</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GET /flights</a:t>
            </a:r>
          </a:p>
          <a:p xmlns:a="http://schemas.openxmlformats.org/drawingml/2006/main">
            <a:pPr>
              <a:buNone/>
              <a:defRPr sz="2175" b="0">
                <a:solidFill>
                  <a:srgbClr val="000000"/>
                </a:solidFill>
              </a:defRPr>
            </a:pPr>
            <a:r>
              <a:rPr sz="2175" b="0">
                <a:solidFill>
                  <a:srgbClr val="000000"/>
                </a:solidFill>
              </a:rPr>
              <a:t>POST /book</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JSON responses and OpenAPI docs</a:t>
            </a:r>
          </a:p>
        </p:txBody>
      </p:sp>
      <p:sp>
        <p:nvSpPr>
          <p:cNvPr id="5" name="">
            <a:extLst xmlns:a="http://schemas.openxmlformats.org/drawingml/2006/main">
              <a:ext uri="{FF2B5EF4-FFF2-40B4-BE49-F238E27FC236}">
                <a16:creationId xmlns:a16="http://schemas.microsoft.com/office/drawing/2014/main" id="{C00EFCC9-7C88-497C-A464-5AB084C13EF0}"/>
              </a:ext>
            </a:extLst>
          </p:cNvPr>
          <p:cNvSpPr>
            <a:spLocks xmlns:a="http://schemas.openxmlformats.org/drawingml/2006/main" noGrp="1"/>
          </p:cNvSpPr>
          <p:nvPr/>
        </p:nvSpPr>
        <p:spPr>
          <a:xfrm xmlns:a="http://schemas.openxmlformats.org/drawingml/2006/main">
            <a:off x="6257925" y="2028825"/>
            <a:ext cx="5534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MCP tools</a:t>
            </a:r>
          </a:p>
        </p:txBody>
      </p:sp>
      <p:sp>
        <p:nvSpPr>
          <p:cNvPr id="6" name="">
            <a:extLst xmlns:a="http://schemas.openxmlformats.org/drawingml/2006/main">
              <a:ext uri="{FF2B5EF4-FFF2-40B4-BE49-F238E27FC236}">
                <a16:creationId xmlns:a16="http://schemas.microsoft.com/office/drawing/2014/main" id="{21D5F953-D5EC-4F00-8489-843EBD4C785F}"/>
              </a:ext>
            </a:extLst>
          </p:cNvPr>
          <p:cNvSpPr>
            <a:spLocks xmlns:a="http://schemas.openxmlformats.org/drawingml/2006/main" noGrp="1"/>
          </p:cNvSpPr>
          <p:nvPr/>
        </p:nvSpPr>
        <p:spPr>
          <a:xfrm xmlns:a="http://schemas.openxmlformats.org/drawingml/2006/main">
            <a:off x="6257925" y="2667000"/>
            <a:ext cx="55340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000000"/>
                </a:solidFill>
              </a:defRPr>
            </a:pPr>
            <a:r>
              <a:rPr sz="2175" b="0">
                <a:solidFill>
                  <a:srgbClr val="000000"/>
                </a:solidFill>
              </a:rPr>
              <a:t>Tool calls over Streamable HTTP</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list_flights()</a:t>
            </a:r>
          </a:p>
          <a:p xmlns:a="http://schemas.openxmlformats.org/drawingml/2006/main">
            <a:pPr>
              <a:buNone/>
              <a:defRPr sz="2175" b="0">
                <a:solidFill>
                  <a:srgbClr val="000000"/>
                </a:solidFill>
              </a:defRPr>
            </a:pPr>
            <a:r>
              <a:rPr sz="2175" b="0">
                <a:solidFill>
                  <a:srgbClr val="000000"/>
                </a:solidFill>
              </a:rPr>
              <a:t>book_flight(user_id, name, flight_id)</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Structured tool results</a:t>
            </a:r>
          </a:p>
        </p:txBody>
      </p:sp>
    </p:spTree>
    <p:extLst>
      <p:ext uri="{BB962C8B-B14F-4D97-AF65-F5344CB8AC3E}">
        <p14:creationId xmlns:p14="http://schemas.microsoft.com/office/powerpoint/2010/main" val="287965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B09426-5A97-4550-A463-434927F4790A}"/>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MCP access is explicit in this example</a:t>
            </a:r>
          </a:p>
        </p:txBody>
      </p:sp>
      <p:sp>
        <p:nvSpPr>
          <p:cNvPr id="2" name="">
            <a:extLst xmlns:a="http://schemas.openxmlformats.org/drawingml/2006/main">
              <a:ext uri="{FF2B5EF4-FFF2-40B4-BE49-F238E27FC236}">
                <a16:creationId xmlns:a16="http://schemas.microsoft.com/office/drawing/2014/main" id="{BFC26165-7AFC-4456-A52C-8C74E413E449}"/>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06</a:t>
            </a:r>
          </a:p>
        </p:txBody>
      </p:sp>
      <p:sp>
        <p:nvSpPr>
          <p:cNvPr id="3" name="">
            <a:extLst xmlns:a="http://schemas.openxmlformats.org/drawingml/2006/main">
              <a:ext uri="{FF2B5EF4-FFF2-40B4-BE49-F238E27FC236}">
                <a16:creationId xmlns:a16="http://schemas.microsoft.com/office/drawing/2014/main" id="{F32EA93A-C56C-46DC-A53B-68C3FBCF5BB5}"/>
              </a:ext>
            </a:extLst>
          </p:cNvPr>
          <p:cNvSpPr>
            <a:spLocks xmlns:a="http://schemas.openxmlformats.org/drawingml/2006/main" noGrp="1"/>
          </p:cNvSpPr>
          <p:nvPr/>
        </p:nvSpPr>
        <p:spPr>
          <a:xfrm xmlns:a="http://schemas.openxmlformats.org/drawingml/2006/main">
            <a:off x="400050"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Application</a:t>
            </a:r>
          </a:p>
        </p:txBody>
      </p:sp>
      <p:sp>
        <p:nvSpPr>
          <p:cNvPr id="4" name="">
            <a:extLst xmlns:a="http://schemas.openxmlformats.org/drawingml/2006/main">
              <a:ext uri="{FF2B5EF4-FFF2-40B4-BE49-F238E27FC236}">
                <a16:creationId xmlns:a16="http://schemas.microsoft.com/office/drawing/2014/main" id="{B16E4D5D-5FFC-496F-BE4C-1DEF21FFC9BD}"/>
              </a:ext>
            </a:extLst>
          </p:cNvPr>
          <p:cNvSpPr>
            <a:spLocks xmlns:a="http://schemas.openxmlformats.org/drawingml/2006/main" noGrp="1"/>
          </p:cNvSpPr>
          <p:nvPr/>
        </p:nvSpPr>
        <p:spPr>
          <a:xfrm xmlns:a="http://schemas.openxmlformats.org/drawingml/2006/main">
            <a:off x="400050"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Each UI action selects a fixed tool through the Python MCP client.</a:t>
            </a:r>
          </a:p>
        </p:txBody>
      </p:sp>
      <p:sp>
        <p:nvSpPr>
          <p:cNvPr id="5" name="">
            <a:extLst xmlns:a="http://schemas.openxmlformats.org/drawingml/2006/main">
              <a:ext uri="{FF2B5EF4-FFF2-40B4-BE49-F238E27FC236}">
                <a16:creationId xmlns:a16="http://schemas.microsoft.com/office/drawing/2014/main" id="{509EF5BA-E27B-4119-AD54-A7AF6329E59D}"/>
              </a:ext>
            </a:extLst>
          </p:cNvPr>
          <p:cNvSpPr>
            <a:spLocks xmlns:a="http://schemas.openxmlformats.org/drawingml/2006/main" noGrp="1"/>
          </p:cNvSpPr>
          <p:nvPr/>
        </p:nvSpPr>
        <p:spPr>
          <a:xfrm xmlns:a="http://schemas.openxmlformats.org/drawingml/2006/main">
            <a:off x="4314825"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Tool server</a:t>
            </a:r>
          </a:p>
        </p:txBody>
      </p:sp>
      <p:sp>
        <p:nvSpPr>
          <p:cNvPr id="6" name="">
            <a:extLst xmlns:a="http://schemas.openxmlformats.org/drawingml/2006/main">
              <a:ext uri="{FF2B5EF4-FFF2-40B4-BE49-F238E27FC236}">
                <a16:creationId xmlns:a16="http://schemas.microsoft.com/office/drawing/2014/main" id="{9A8F5700-B847-415B-8B36-B242996D5E92}"/>
              </a:ext>
            </a:extLst>
          </p:cNvPr>
          <p:cNvSpPr>
            <a:spLocks xmlns:a="http://schemas.openxmlformats.org/drawingml/2006/main" noGrp="1"/>
          </p:cNvSpPr>
          <p:nvPr/>
        </p:nvSpPr>
        <p:spPr>
          <a:xfrm xmlns:a="http://schemas.openxmlformats.org/drawingml/2006/main">
            <a:off x="4314825"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FastMCP exposes booking operations at /mcp over Streamable HTTP.</a:t>
            </a:r>
          </a:p>
        </p:txBody>
      </p:sp>
      <p:sp>
        <p:nvSpPr>
          <p:cNvPr id="7" name="">
            <a:extLst xmlns:a="http://schemas.openxmlformats.org/drawingml/2006/main">
              <a:ext uri="{FF2B5EF4-FFF2-40B4-BE49-F238E27FC236}">
                <a16:creationId xmlns:a16="http://schemas.microsoft.com/office/drawing/2014/main" id="{F25CF498-B5AC-4C33-BB7E-FBA0BCCE193B}"/>
              </a:ext>
            </a:extLst>
          </p:cNvPr>
          <p:cNvSpPr>
            <a:spLocks xmlns:a="http://schemas.openxmlformats.org/drawingml/2006/main" noGrp="1"/>
          </p:cNvSpPr>
          <p:nvPr/>
        </p:nvSpPr>
        <p:spPr>
          <a:xfrm xmlns:a="http://schemas.openxmlformats.org/drawingml/2006/main">
            <a:off x="8229600"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Agent integration</a:t>
            </a:r>
          </a:p>
        </p:txBody>
      </p:sp>
      <p:sp>
        <p:nvSpPr>
          <p:cNvPr id="8" name="">
            <a:extLst xmlns:a="http://schemas.openxmlformats.org/drawingml/2006/main">
              <a:ext uri="{FF2B5EF4-FFF2-40B4-BE49-F238E27FC236}">
                <a16:creationId xmlns:a16="http://schemas.microsoft.com/office/drawing/2014/main" id="{77D28D91-5949-4EC9-9577-68727F3C6F79}"/>
              </a:ext>
            </a:extLst>
          </p:cNvPr>
          <p:cNvSpPr>
            <a:spLocks xmlns:a="http://schemas.openxmlformats.org/drawingml/2006/main" noGrp="1"/>
          </p:cNvSpPr>
          <p:nvPr/>
        </p:nvSpPr>
        <p:spPr>
          <a:xfrm xmlns:a="http://schemas.openxmlformats.org/drawingml/2006/main">
            <a:off x="8229600"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An external MCP client can use the server. The booking UI has no LLM planner.</a:t>
            </a:r>
          </a:p>
        </p:txBody>
      </p:sp>
    </p:spTree>
    <p:extLst>
      <p:ext uri="{BB962C8B-B14F-4D97-AF65-F5344CB8AC3E}">
        <p14:creationId xmlns:p14="http://schemas.microsoft.com/office/powerpoint/2010/main" val="8285383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0EA18A-2BE0-4045-B245-061B0446436E}"/>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Authentication changes the boundary</a:t>
            </a:r>
          </a:p>
        </p:txBody>
      </p:sp>
      <p:sp>
        <p:nvSpPr>
          <p:cNvPr id="2" name="">
            <a:extLst xmlns:a="http://schemas.openxmlformats.org/drawingml/2006/main">
              <a:ext uri="{FF2B5EF4-FFF2-40B4-BE49-F238E27FC236}">
                <a16:creationId xmlns:a16="http://schemas.microsoft.com/office/drawing/2014/main" id="{9ABFD24F-6565-4C06-957A-DEB06D2A601F}"/>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07</a:t>
            </a:r>
          </a:p>
        </p:txBody>
      </p:sp>
      <p:sp>
        <p:nvSpPr>
          <p:cNvPr id="3" name="">
            <a:extLst xmlns:a="http://schemas.openxmlformats.org/drawingml/2006/main">
              <a:ext uri="{FF2B5EF4-FFF2-40B4-BE49-F238E27FC236}">
                <a16:creationId xmlns:a16="http://schemas.microsoft.com/office/drawing/2014/main" id="{D7B4D5C6-A964-4202-A5F8-51C0CBEB204C}"/>
              </a:ext>
            </a:extLst>
          </p:cNvPr>
          <p:cNvSpPr>
            <a:spLocks xmlns:a="http://schemas.openxmlformats.org/drawingml/2006/main" noGrp="1"/>
          </p:cNvSpPr>
          <p:nvPr/>
        </p:nvSpPr>
        <p:spPr>
          <a:xfrm xmlns:a="http://schemas.openxmlformats.org/drawingml/2006/main">
            <a:off x="400050"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OAuth</a:t>
            </a:r>
          </a:p>
        </p:txBody>
      </p:sp>
      <p:sp>
        <p:nvSpPr>
          <p:cNvPr id="4" name="">
            <a:extLst xmlns:a="http://schemas.openxmlformats.org/drawingml/2006/main">
              <a:ext uri="{FF2B5EF4-FFF2-40B4-BE49-F238E27FC236}">
                <a16:creationId xmlns:a16="http://schemas.microsoft.com/office/drawing/2014/main" id="{4739EDCD-228A-48F7-9546-6EDE39AB1EAF}"/>
              </a:ext>
            </a:extLst>
          </p:cNvPr>
          <p:cNvSpPr>
            <a:spLocks xmlns:a="http://schemas.openxmlformats.org/drawingml/2006/main" noGrp="1"/>
          </p:cNvSpPr>
          <p:nvPr/>
        </p:nvSpPr>
        <p:spPr>
          <a:xfrm xmlns:a="http://schemas.openxmlformats.org/drawingml/2006/main">
            <a:off x="400050"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Keycloak browser login.</a:t>
            </a:r>
          </a:p>
          <a:p xmlns:a="http://schemas.openxmlformats.org/drawingml/2006/main">
            <a:r>
              <a:t/>
            </a:r>
          </a:p>
          <a:p xmlns:a="http://schemas.openxmlformats.org/drawingml/2006/main">
            <a:pPr>
              <a:buNone/>
              <a:defRPr sz="2100" b="0">
                <a:solidFill>
                  <a:srgbClr val="000000"/>
                </a:solidFill>
              </a:defRPr>
            </a:pPr>
            <a:r>
              <a:rPr sz="2100" b="0">
                <a:solidFill>
                  <a:srgbClr val="000000"/>
                </a:solidFill>
              </a:rPr>
              <a:t>Backends validate bearer tokens. Local and LAN variants.</a:t>
            </a:r>
          </a:p>
        </p:txBody>
      </p:sp>
      <p:sp>
        <p:nvSpPr>
          <p:cNvPr id="5" name="">
            <a:extLst xmlns:a="http://schemas.openxmlformats.org/drawingml/2006/main">
              <a:ext uri="{FF2B5EF4-FFF2-40B4-BE49-F238E27FC236}">
                <a16:creationId xmlns:a16="http://schemas.microsoft.com/office/drawing/2014/main" id="{8367E862-5E32-4608-B631-57BC4C25045D}"/>
              </a:ext>
            </a:extLst>
          </p:cNvPr>
          <p:cNvSpPr>
            <a:spLocks xmlns:a="http://schemas.openxmlformats.org/drawingml/2006/main" noGrp="1"/>
          </p:cNvSpPr>
          <p:nvPr/>
        </p:nvSpPr>
        <p:spPr>
          <a:xfrm xmlns:a="http://schemas.openxmlformats.org/drawingml/2006/main">
            <a:off x="4314825"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Basic Auth</a:t>
            </a:r>
          </a:p>
        </p:txBody>
      </p:sp>
      <p:sp>
        <p:nvSpPr>
          <p:cNvPr id="6" name="">
            <a:extLst xmlns:a="http://schemas.openxmlformats.org/drawingml/2006/main">
              <a:ext uri="{FF2B5EF4-FFF2-40B4-BE49-F238E27FC236}">
                <a16:creationId xmlns:a16="http://schemas.microsoft.com/office/drawing/2014/main" id="{D2904A33-3A1D-4C42-BCFF-59E9EACE7995}"/>
              </a:ext>
            </a:extLst>
          </p:cNvPr>
          <p:cNvSpPr>
            <a:spLocks xmlns:a="http://schemas.openxmlformats.org/drawingml/2006/main" noGrp="1"/>
          </p:cNvSpPr>
          <p:nvPr/>
        </p:nvSpPr>
        <p:spPr>
          <a:xfrm xmlns:a="http://schemas.openxmlformats.org/drawingml/2006/main">
            <a:off x="4314825"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Guest browser session.</a:t>
            </a:r>
          </a:p>
          <a:p xmlns:a="http://schemas.openxmlformats.org/drawingml/2006/main">
            <a:r>
              <a:t/>
            </a:r>
          </a:p>
          <a:p xmlns:a="http://schemas.openxmlformats.org/drawingml/2006/main">
            <a:pPr>
              <a:buNone/>
              <a:defRPr sz="2100" b="0">
                <a:solidFill>
                  <a:srgbClr val="000000"/>
                </a:solidFill>
              </a:defRPr>
            </a:pPr>
            <a:r>
              <a:rPr sz="2100" b="0">
                <a:solidFill>
                  <a:srgbClr val="000000"/>
                </a:solidFill>
              </a:rPr>
              <a:t>UIs send shared credentials to the REST and MCP backends.</a:t>
            </a:r>
          </a:p>
        </p:txBody>
      </p:sp>
      <p:sp>
        <p:nvSpPr>
          <p:cNvPr id="7" name="">
            <a:extLst xmlns:a="http://schemas.openxmlformats.org/drawingml/2006/main">
              <a:ext uri="{FF2B5EF4-FFF2-40B4-BE49-F238E27FC236}">
                <a16:creationId xmlns:a16="http://schemas.microsoft.com/office/drawing/2014/main" id="{8836D7AE-6F89-4772-90A6-8B4DFDD2D851}"/>
              </a:ext>
            </a:extLst>
          </p:cNvPr>
          <p:cNvSpPr>
            <a:spLocks xmlns:a="http://schemas.openxmlformats.org/drawingml/2006/main" noGrp="1"/>
          </p:cNvSpPr>
          <p:nvPr/>
        </p:nvSpPr>
        <p:spPr>
          <a:xfrm xmlns:a="http://schemas.openxmlformats.org/drawingml/2006/main">
            <a:off x="8229600"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Mixed MCP</a:t>
            </a:r>
          </a:p>
        </p:txBody>
      </p:sp>
      <p:sp>
        <p:nvSpPr>
          <p:cNvPr id="8" name="">
            <a:extLst xmlns:a="http://schemas.openxmlformats.org/drawingml/2006/main">
              <a:ext uri="{FF2B5EF4-FFF2-40B4-BE49-F238E27FC236}">
                <a16:creationId xmlns:a16="http://schemas.microsoft.com/office/drawing/2014/main" id="{589A2E5D-B27A-4DF8-B61A-6B41E8A97D66}"/>
              </a:ext>
            </a:extLst>
          </p:cNvPr>
          <p:cNvSpPr>
            <a:spLocks xmlns:a="http://schemas.openxmlformats.org/drawingml/2006/main" noGrp="1"/>
          </p:cNvSpPr>
          <p:nvPr/>
        </p:nvSpPr>
        <p:spPr>
          <a:xfrm xmlns:a="http://schemas.openxmlformats.org/drawingml/2006/main">
            <a:off x="8229600"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Keycloak browser login.</a:t>
            </a:r>
          </a:p>
          <a:p xmlns:a="http://schemas.openxmlformats.org/drawingml/2006/main">
            <a:r>
              <a:t/>
            </a:r>
          </a:p>
          <a:p xmlns:a="http://schemas.openxmlformats.org/drawingml/2006/main">
            <a:pPr>
              <a:buNone/>
              <a:defRPr sz="2100" b="0">
                <a:solidFill>
                  <a:srgbClr val="000000"/>
                </a:solidFill>
              </a:defRPr>
            </a:pPr>
            <a:r>
              <a:rPr sz="2100" b="0">
                <a:solidFill>
                  <a:srgbClr val="000000"/>
                </a:solidFill>
              </a:rPr>
              <a:t>The MCP UI uses Basic Auth when calling its backend.</a:t>
            </a:r>
          </a:p>
        </p:txBody>
      </p:sp>
    </p:spTree>
    <p:extLst>
      <p:ext uri="{BB962C8B-B14F-4D97-AF65-F5344CB8AC3E}">
        <p14:creationId xmlns:p14="http://schemas.microsoft.com/office/powerpoint/2010/main" val="4779275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84E9F4A-5E53-4987-95B2-3C0E1BDF0C42}"/>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Browser identity and backend auth can differ</a:t>
            </a:r>
          </a:p>
        </p:txBody>
      </p:sp>
      <p:sp>
        <p:nvSpPr>
          <p:cNvPr id="2" name="">
            <a:extLst xmlns:a="http://schemas.openxmlformats.org/drawingml/2006/main">
              <a:ext uri="{FF2B5EF4-FFF2-40B4-BE49-F238E27FC236}">
                <a16:creationId xmlns:a16="http://schemas.microsoft.com/office/drawing/2014/main" id="{DE73828E-3435-4504-8081-654D6ED4C159}"/>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08</a:t>
            </a:r>
          </a:p>
        </p:txBody>
      </p:sp>
      <p:sp>
        <p:nvSpPr>
          <p:cNvPr id="9" name="">
            <a:extLst xmlns:a="http://schemas.openxmlformats.org/drawingml/2006/main">
              <a:ext uri="{FF2B5EF4-FFF2-40B4-BE49-F238E27FC236}">
                <a16:creationId xmlns:a16="http://schemas.microsoft.com/office/drawing/2014/main" id="{CCCF12D9-D1B2-4D97-8E50-DD71DFEAC020}"/>
              </a:ext>
            </a:extLst>
          </p:cNvPr>
          <p:cNvSpPr>
            <a:spLocks xmlns:a="http://schemas.openxmlformats.org/drawingml/2006/main" noGrp="1"/>
          </p:cNvSpPr>
          <p:nvPr/>
        </p:nvSpPr>
        <p:spPr>
          <a:xfrm xmlns:a="http://schemas.openxmlformats.org/drawingml/2006/main">
            <a:off x="400050" y="177165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6DE383-B3F9-49A7-AF0F-1722B8108687}"/>
              </a:ext>
            </a:extLst>
          </p:cNvPr>
          <p:cNvSpPr>
            <a:spLocks xmlns:a="http://schemas.openxmlformats.org/drawingml/2006/main" noGrp="1"/>
          </p:cNvSpPr>
          <p:nvPr/>
        </p:nvSpPr>
        <p:spPr>
          <a:xfrm xmlns:a="http://schemas.openxmlformats.org/drawingml/2006/main">
            <a:off x="571500" y="188595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Traveler via</a:t>
            </a:r>
          </a:p>
          <a:p xmlns:a="http://schemas.openxmlformats.org/drawingml/2006/main">
            <a:pPr>
              <a:buNone/>
              <a:defRPr sz="2100" b="1">
                <a:solidFill>
                  <a:srgbClr val="000000"/>
                </a:solidFill>
              </a:defRPr>
            </a:pPr>
            <a:r>
              <a:rPr sz="2100" b="1">
                <a:solidFill>
                  <a:srgbClr val="000000"/>
                </a:solidFill>
              </a:rPr>
              <a:t>Keycloak</a:t>
            </a:r>
          </a:p>
        </p:txBody>
      </p:sp>
      <p:sp>
        <p:nvSpPr>
          <p:cNvPr id="11" name="">
            <a:extLst xmlns:a="http://schemas.openxmlformats.org/drawingml/2006/main">
              <a:ext uri="{FF2B5EF4-FFF2-40B4-BE49-F238E27FC236}">
                <a16:creationId xmlns:a16="http://schemas.microsoft.com/office/drawing/2014/main" id="{B8D864A9-87C3-44F5-9D40-431CF13492CD}"/>
              </a:ext>
            </a:extLst>
          </p:cNvPr>
          <p:cNvSpPr>
            <a:spLocks xmlns:a="http://schemas.openxmlformats.org/drawingml/2006/main" noGrp="1"/>
          </p:cNvSpPr>
          <p:nvPr/>
        </p:nvSpPr>
        <p:spPr>
          <a:xfrm xmlns:a="http://schemas.openxmlformats.org/drawingml/2006/main">
            <a:off x="4667250" y="177165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0FB79D7-BC0F-4A93-9A0A-D908191BF56E}"/>
              </a:ext>
            </a:extLst>
          </p:cNvPr>
          <p:cNvSpPr>
            <a:spLocks xmlns:a="http://schemas.openxmlformats.org/drawingml/2006/main" noGrp="1"/>
          </p:cNvSpPr>
          <p:nvPr/>
        </p:nvSpPr>
        <p:spPr>
          <a:xfrm xmlns:a="http://schemas.openxmlformats.org/drawingml/2006/main">
            <a:off x="4838700" y="188595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REST / MCP UI</a:t>
            </a:r>
          </a:p>
        </p:txBody>
      </p:sp>
      <p:sp>
        <p:nvSpPr>
          <p:cNvPr id="13" name="">
            <a:extLst xmlns:a="http://schemas.openxmlformats.org/drawingml/2006/main">
              <a:ext uri="{FF2B5EF4-FFF2-40B4-BE49-F238E27FC236}">
                <a16:creationId xmlns:a16="http://schemas.microsoft.com/office/drawing/2014/main" id="{65AE7E24-44C1-4895-BFC7-1846A28133A8}"/>
              </a:ext>
            </a:extLst>
          </p:cNvPr>
          <p:cNvSpPr>
            <a:spLocks xmlns:a="http://schemas.openxmlformats.org/drawingml/2006/main" noGrp="1"/>
          </p:cNvSpPr>
          <p:nvPr/>
        </p:nvSpPr>
        <p:spPr>
          <a:xfrm xmlns:a="http://schemas.openxmlformats.org/drawingml/2006/main">
            <a:off x="8934450" y="177165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770C5D-32EA-48A8-AB53-2916043BCE94}"/>
              </a:ext>
            </a:extLst>
          </p:cNvPr>
          <p:cNvSpPr>
            <a:spLocks xmlns:a="http://schemas.openxmlformats.org/drawingml/2006/main" noGrp="1"/>
          </p:cNvSpPr>
          <p:nvPr/>
        </p:nvSpPr>
        <p:spPr>
          <a:xfrm xmlns:a="http://schemas.openxmlformats.org/drawingml/2006/main">
            <a:off x="9105900" y="188595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Bearer-protected</a:t>
            </a:r>
          </a:p>
          <a:p xmlns:a="http://schemas.openxmlformats.org/drawingml/2006/main">
            <a:pPr>
              <a:buNone/>
              <a:defRPr sz="2100" b="1">
                <a:solidFill>
                  <a:srgbClr val="000000"/>
                </a:solidFill>
              </a:defRPr>
            </a:pPr>
            <a:r>
              <a:rPr sz="2100" b="1">
                <a:solidFill>
                  <a:srgbClr val="000000"/>
                </a:solidFill>
              </a:rPr>
              <a:t>REST / MCP</a:t>
            </a:r>
          </a:p>
        </p:txBody>
      </p:sp>
      <p:sp>
        <p:nvSpPr>
          <p:cNvPr id="15" name="">
            <a:extLst xmlns:a="http://schemas.openxmlformats.org/drawingml/2006/main">
              <a:ext uri="{FF2B5EF4-FFF2-40B4-BE49-F238E27FC236}">
                <a16:creationId xmlns:a16="http://schemas.microsoft.com/office/drawing/2014/main" id="{F9D2DDA2-B445-4FE1-8235-2E17B6DCF9FF}"/>
              </a:ext>
            </a:extLst>
          </p:cNvPr>
          <p:cNvSpPr>
            <a:spLocks xmlns:a="http://schemas.openxmlformats.org/drawingml/2006/main" noGrp="1"/>
          </p:cNvSpPr>
          <p:nvPr/>
        </p:nvSpPr>
        <p:spPr>
          <a:xfrm xmlns:a="http://schemas.openxmlformats.org/drawingml/2006/main">
            <a:off x="400050" y="3114675"/>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BC6D76-8411-4640-852A-9EB1CB2C1EDD}"/>
              </a:ext>
            </a:extLst>
          </p:cNvPr>
          <p:cNvSpPr>
            <a:spLocks xmlns:a="http://schemas.openxmlformats.org/drawingml/2006/main" noGrp="1"/>
          </p:cNvSpPr>
          <p:nvPr/>
        </p:nvSpPr>
        <p:spPr>
          <a:xfrm xmlns:a="http://schemas.openxmlformats.org/drawingml/2006/main">
            <a:off x="571500" y="3228975"/>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Guest traveler</a:t>
            </a:r>
          </a:p>
        </p:txBody>
      </p:sp>
      <p:sp>
        <p:nvSpPr>
          <p:cNvPr id="17" name="">
            <a:extLst xmlns:a="http://schemas.openxmlformats.org/drawingml/2006/main">
              <a:ext uri="{FF2B5EF4-FFF2-40B4-BE49-F238E27FC236}">
                <a16:creationId xmlns:a16="http://schemas.microsoft.com/office/drawing/2014/main" id="{26AA9464-9DD9-432E-99D7-3A78A8A4A8AA}"/>
              </a:ext>
            </a:extLst>
          </p:cNvPr>
          <p:cNvSpPr>
            <a:spLocks xmlns:a="http://schemas.openxmlformats.org/drawingml/2006/main" noGrp="1"/>
          </p:cNvSpPr>
          <p:nvPr/>
        </p:nvSpPr>
        <p:spPr>
          <a:xfrm xmlns:a="http://schemas.openxmlformats.org/drawingml/2006/main">
            <a:off x="4667250" y="3114675"/>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373A548-FABE-4C43-A89D-299E82A3732A}"/>
              </a:ext>
            </a:extLst>
          </p:cNvPr>
          <p:cNvSpPr>
            <a:spLocks xmlns:a="http://schemas.openxmlformats.org/drawingml/2006/main" noGrp="1"/>
          </p:cNvSpPr>
          <p:nvPr/>
        </p:nvSpPr>
        <p:spPr>
          <a:xfrm xmlns:a="http://schemas.openxmlformats.org/drawingml/2006/main">
            <a:off x="4838700" y="3228975"/>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REST / MCP UI</a:t>
            </a:r>
          </a:p>
        </p:txBody>
      </p:sp>
      <p:sp>
        <p:nvSpPr>
          <p:cNvPr id="19" name="">
            <a:extLst xmlns:a="http://schemas.openxmlformats.org/drawingml/2006/main">
              <a:ext uri="{FF2B5EF4-FFF2-40B4-BE49-F238E27FC236}">
                <a16:creationId xmlns:a16="http://schemas.microsoft.com/office/drawing/2014/main" id="{5993CB56-AB11-460F-9D86-BBCA4841ADC2}"/>
              </a:ext>
            </a:extLst>
          </p:cNvPr>
          <p:cNvSpPr>
            <a:spLocks xmlns:a="http://schemas.openxmlformats.org/drawingml/2006/main" noGrp="1"/>
          </p:cNvSpPr>
          <p:nvPr/>
        </p:nvSpPr>
        <p:spPr>
          <a:xfrm xmlns:a="http://schemas.openxmlformats.org/drawingml/2006/main">
            <a:off x="8934450" y="3114675"/>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D94E6AB-DBC9-47F9-BE39-EEBFEE34B9FC}"/>
              </a:ext>
            </a:extLst>
          </p:cNvPr>
          <p:cNvSpPr>
            <a:spLocks xmlns:a="http://schemas.openxmlformats.org/drawingml/2006/main" noGrp="1"/>
          </p:cNvSpPr>
          <p:nvPr/>
        </p:nvSpPr>
        <p:spPr>
          <a:xfrm xmlns:a="http://schemas.openxmlformats.org/drawingml/2006/main">
            <a:off x="9105900" y="3228975"/>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Basic-protected</a:t>
            </a:r>
          </a:p>
          <a:p xmlns:a="http://schemas.openxmlformats.org/drawingml/2006/main">
            <a:pPr>
              <a:buNone/>
              <a:defRPr sz="2100" b="1">
                <a:solidFill>
                  <a:srgbClr val="000000"/>
                </a:solidFill>
              </a:defRPr>
            </a:pPr>
            <a:r>
              <a:rPr sz="2100" b="1">
                <a:solidFill>
                  <a:srgbClr val="000000"/>
                </a:solidFill>
              </a:rPr>
              <a:t>REST / MCP</a:t>
            </a:r>
          </a:p>
        </p:txBody>
      </p:sp>
      <p:sp>
        <p:nvSpPr>
          <p:cNvPr id="21" name="">
            <a:extLst xmlns:a="http://schemas.openxmlformats.org/drawingml/2006/main">
              <a:ext uri="{FF2B5EF4-FFF2-40B4-BE49-F238E27FC236}">
                <a16:creationId xmlns:a16="http://schemas.microsoft.com/office/drawing/2014/main" id="{488DB7C5-1759-4090-820F-03F15F04B7A5}"/>
              </a:ext>
            </a:extLst>
          </p:cNvPr>
          <p:cNvSpPr>
            <a:spLocks xmlns:a="http://schemas.openxmlformats.org/drawingml/2006/main" noGrp="1"/>
          </p:cNvSpPr>
          <p:nvPr/>
        </p:nvSpPr>
        <p:spPr>
          <a:xfrm xmlns:a="http://schemas.openxmlformats.org/drawingml/2006/main">
            <a:off x="400050" y="44577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C4E6F91-7F4D-4A91-A4EE-F564B0F81273}"/>
              </a:ext>
            </a:extLst>
          </p:cNvPr>
          <p:cNvSpPr>
            <a:spLocks xmlns:a="http://schemas.openxmlformats.org/drawingml/2006/main" noGrp="1"/>
          </p:cNvSpPr>
          <p:nvPr/>
        </p:nvSpPr>
        <p:spPr>
          <a:xfrm xmlns:a="http://schemas.openxmlformats.org/drawingml/2006/main">
            <a:off x="571500" y="45720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Traveler via</a:t>
            </a:r>
          </a:p>
          <a:p xmlns:a="http://schemas.openxmlformats.org/drawingml/2006/main">
            <a:pPr>
              <a:buNone/>
              <a:defRPr sz="2100" b="1">
                <a:solidFill>
                  <a:srgbClr val="000000"/>
                </a:solidFill>
              </a:defRPr>
            </a:pPr>
            <a:r>
              <a:rPr sz="2100" b="1">
                <a:solidFill>
                  <a:srgbClr val="000000"/>
                </a:solidFill>
              </a:rPr>
              <a:t>Keycloak</a:t>
            </a:r>
          </a:p>
        </p:txBody>
      </p:sp>
      <p:sp>
        <p:nvSpPr>
          <p:cNvPr id="23" name="">
            <a:extLst xmlns:a="http://schemas.openxmlformats.org/drawingml/2006/main">
              <a:ext uri="{FF2B5EF4-FFF2-40B4-BE49-F238E27FC236}">
                <a16:creationId xmlns:a16="http://schemas.microsoft.com/office/drawing/2014/main" id="{DD644AA2-489A-47CE-9DB5-BD3C42E281C5}"/>
              </a:ext>
            </a:extLst>
          </p:cNvPr>
          <p:cNvSpPr>
            <a:spLocks xmlns:a="http://schemas.openxmlformats.org/drawingml/2006/main" noGrp="1"/>
          </p:cNvSpPr>
          <p:nvPr/>
        </p:nvSpPr>
        <p:spPr>
          <a:xfrm xmlns:a="http://schemas.openxmlformats.org/drawingml/2006/main">
            <a:off x="4667250" y="44577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EC216C6-3724-4D7E-8BEF-9B68B9043F5C}"/>
              </a:ext>
            </a:extLst>
          </p:cNvPr>
          <p:cNvSpPr>
            <a:spLocks xmlns:a="http://schemas.openxmlformats.org/drawingml/2006/main" noGrp="1"/>
          </p:cNvSpPr>
          <p:nvPr/>
        </p:nvSpPr>
        <p:spPr>
          <a:xfrm xmlns:a="http://schemas.openxmlformats.org/drawingml/2006/main">
            <a:off x="4838700" y="45720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MCP UI</a:t>
            </a:r>
          </a:p>
        </p:txBody>
      </p:sp>
      <p:sp>
        <p:nvSpPr>
          <p:cNvPr id="25" name="">
            <a:extLst xmlns:a="http://schemas.openxmlformats.org/drawingml/2006/main">
              <a:ext uri="{FF2B5EF4-FFF2-40B4-BE49-F238E27FC236}">
                <a16:creationId xmlns:a16="http://schemas.microsoft.com/office/drawing/2014/main" id="{433CC075-CE6F-4B94-902A-370BA01F3C78}"/>
              </a:ext>
            </a:extLst>
          </p:cNvPr>
          <p:cNvSpPr>
            <a:spLocks xmlns:a="http://schemas.openxmlformats.org/drawingml/2006/main" noGrp="1"/>
          </p:cNvSpPr>
          <p:nvPr/>
        </p:nvSpPr>
        <p:spPr>
          <a:xfrm xmlns:a="http://schemas.openxmlformats.org/drawingml/2006/main">
            <a:off x="8934450" y="44577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231A280-2344-4C3B-BA20-BAF2886CFA5C}"/>
              </a:ext>
            </a:extLst>
          </p:cNvPr>
          <p:cNvSpPr>
            <a:spLocks xmlns:a="http://schemas.openxmlformats.org/drawingml/2006/main" noGrp="1"/>
          </p:cNvSpPr>
          <p:nvPr/>
        </p:nvSpPr>
        <p:spPr>
          <a:xfrm xmlns:a="http://schemas.openxmlformats.org/drawingml/2006/main">
            <a:off x="9105900" y="45720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Basic-protected</a:t>
            </a:r>
          </a:p>
          <a:p xmlns:a="http://schemas.openxmlformats.org/drawingml/2006/main">
            <a:pPr>
              <a:buNone/>
              <a:defRPr sz="2100" b="1">
                <a:solidFill>
                  <a:srgbClr val="000000"/>
                </a:solidFill>
              </a:defRPr>
            </a:pPr>
            <a:r>
              <a:rPr sz="2100" b="1">
                <a:solidFill>
                  <a:srgbClr val="000000"/>
                </a:solidFill>
              </a:rPr>
              <a:t>MCP backend</a:t>
            </a:r>
          </a:p>
        </p:txBody>
      </p:sp>
      <p:sp>
        <p:nvSpPr>
          <p:cNvPr id="27" name="">
            <a:extLst xmlns:a="http://schemas.openxmlformats.org/drawingml/2006/main">
              <a:ext uri="{FF2B5EF4-FFF2-40B4-BE49-F238E27FC236}">
                <a16:creationId xmlns:a16="http://schemas.microsoft.com/office/drawing/2014/main" id="{04B020C4-BD65-489A-BE51-226A7FC3F904}"/>
              </a:ext>
            </a:extLst>
          </p:cNvPr>
          <p:cNvSpPr>
            <a:spLocks xmlns:a="http://schemas.openxmlformats.org/drawingml/2006/main" noGrp="1"/>
          </p:cNvSpPr>
          <p:nvPr/>
        </p:nvSpPr>
        <p:spPr>
          <a:xfrm xmlns:a="http://schemas.openxmlformats.org/drawingml/2006/main">
            <a:off x="400050" y="5562600"/>
            <a:ext cx="11391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000000"/>
                </a:solidFill>
              </a:defRPr>
            </a:pPr>
            <a:r>
              <a:rPr sz="2025" b="0">
                <a:solidFill>
                  <a:srgbClr val="000000"/>
                </a:solidFill>
              </a:rPr>
              <a:t>OAuth protects both layers; mixed MCP separates their credentials.</a:t>
            </a:r>
          </a:p>
        </p:txBody>
      </p:sp>
      <p:sp>
        <p:nvSpPr>
          <p:cNvPr id="28" name="">
            <a:extLst xmlns:a="http://schemas.openxmlformats.org/drawingml/2006/main">
              <a:ext uri="{FF2B5EF4-FFF2-40B4-BE49-F238E27FC236}">
                <a16:creationId xmlns:a16="http://schemas.microsoft.com/office/drawing/2014/main" id="{4E77556E-D4F2-4DC6-890E-2FAD7327B2BE}"/>
              </a:ext>
            </a:extLst>
          </p:cNvPr>
          <p:cNvSpPr>
            <a:spLocks xmlns:a="http://schemas.openxmlformats.org/drawingml/2006/main" noGrp="1"/>
          </p:cNvSpPr>
          <p:nvPr/>
        </p:nvSpPr>
        <p:spPr>
          <a:xfrm xmlns:a="http://schemas.openxmlformats.org/drawingml/2006/main">
            <a:off x="400050" y="60007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000000"/>
                </a:solidFill>
              </a:defRPr>
            </a:pPr>
            <a:r>
              <a:rPr sz="1725" b="0">
                <a:solidFill>
                  <a:srgbClr val="000000"/>
                </a:solidFill>
              </a:rPr>
              <a:t>Keycloak is used for OAuth login. Basic-only mode uses a guest browser session.</a:t>
            </a:r>
          </a:p>
        </p:txBody>
      </p:sp>
      <p:cxnSp>
        <p:nvCxnSpPr>
          <p:cNvPr id="67" name=""/>
          <p:cNvCxnSpPr>
            <a:stCxn xmlns:a="http://schemas.openxmlformats.org/drawingml/2006/main" id="9" idx="3"/>
            <a:endCxn xmlns:a="http://schemas.openxmlformats.org/drawingml/2006/main" id="11" idx="1"/>
          </p:cNvCxnSpPr>
          <p:nvPr/>
        </p:nvCxnSpPr>
        <p:spPr>
          <a:xfrm xmlns:a="http://schemas.openxmlformats.org/drawingml/2006/main">
            <a:off x="3257550" y="2181225"/>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68" name=""/>
          <p:cNvCxnSpPr>
            <a:stCxn xmlns:a="http://schemas.openxmlformats.org/drawingml/2006/main" id="11" idx="3"/>
            <a:endCxn xmlns:a="http://schemas.openxmlformats.org/drawingml/2006/main" id="13" idx="1"/>
          </p:cNvCxnSpPr>
          <p:nvPr/>
        </p:nvCxnSpPr>
        <p:spPr>
          <a:xfrm xmlns:a="http://schemas.openxmlformats.org/drawingml/2006/main">
            <a:off x="7524750" y="2181225"/>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sp>
        <p:nvSpPr>
          <p:cNvPr id="32" name="OAUTH">
            <a:extLst xmlns:a="http://schemas.openxmlformats.org/drawingml/2006/main">
              <a:ext uri="{FF2B5EF4-FFF2-40B4-BE49-F238E27FC236}">
                <a16:creationId xmlns:a16="http://schemas.microsoft.com/office/drawing/2014/main" id="{2897D78D-E1D6-4ABF-A68B-58B58D3E127A}"/>
              </a:ext>
            </a:extLst>
          </p:cNvPr>
          <p:cNvSpPr>
            <a:spLocks xmlns:a="http://schemas.openxmlformats.org/drawingml/2006/main" noGrp="1"/>
          </p:cNvSpPr>
          <p:nvPr/>
        </p:nvSpPr>
        <p:spPr>
          <a:xfrm xmlns:a="http://schemas.openxmlformats.org/drawingml/2006/main">
            <a:off x="400050" y="14192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a:solidFill>
                  <a:srgbClr val="000000"/>
                </a:solidFill>
                <a:latin typeface="Arial"/>
                <a:ea typeface="Arial"/>
                <a:cs typeface="Arial"/>
              </a:defRPr>
            </a:pPr>
            <a:r>
              <a:rPr sz="1725">
                <a:solidFill>
                  <a:srgbClr val="000000"/>
                </a:solidFill>
                <a:latin typeface="Arial"/>
                <a:ea typeface="Arial"/>
                <a:cs typeface="Arial"/>
              </a:rPr>
              <a:t>OAUTH</a:t>
            </a:r>
          </a:p>
        </p:txBody>
      </p:sp>
      <p:sp>
        <p:nvSpPr>
          <p:cNvPr id="33" name="Login">
            <a:extLst xmlns:a="http://schemas.openxmlformats.org/drawingml/2006/main">
              <a:ext uri="{FF2B5EF4-FFF2-40B4-BE49-F238E27FC236}">
                <a16:creationId xmlns:a16="http://schemas.microsoft.com/office/drawing/2014/main" id="{5C177D9E-A41B-428F-8131-15B936171BE7}"/>
              </a:ext>
            </a:extLst>
          </p:cNvPr>
          <p:cNvSpPr>
            <a:spLocks xmlns:a="http://schemas.openxmlformats.org/drawingml/2006/main" noGrp="1"/>
          </p:cNvSpPr>
          <p:nvPr/>
        </p:nvSpPr>
        <p:spPr>
          <a:xfrm xmlns:a="http://schemas.openxmlformats.org/drawingml/2006/main">
            <a:off x="3333750" y="1809750"/>
            <a:ext cx="129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Login</a:t>
            </a:r>
          </a:p>
        </p:txBody>
      </p:sp>
      <p:sp>
        <p:nvSpPr>
          <p:cNvPr id="34" name="Bearer">
            <a:extLst xmlns:a="http://schemas.openxmlformats.org/drawingml/2006/main">
              <a:ext uri="{FF2B5EF4-FFF2-40B4-BE49-F238E27FC236}">
                <a16:creationId xmlns:a16="http://schemas.microsoft.com/office/drawing/2014/main" id="{2F60821D-9DB4-4CCB-B9BB-2D2C5B118CF6}"/>
              </a:ext>
            </a:extLst>
          </p:cNvPr>
          <p:cNvSpPr>
            <a:spLocks xmlns:a="http://schemas.openxmlformats.org/drawingml/2006/main" noGrp="1"/>
          </p:cNvSpPr>
          <p:nvPr/>
        </p:nvSpPr>
        <p:spPr>
          <a:xfrm xmlns:a="http://schemas.openxmlformats.org/drawingml/2006/main">
            <a:off x="7677150" y="180975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Bearer</a:t>
            </a:r>
          </a:p>
        </p:txBody>
      </p:sp>
      <p:cxnSp>
        <p:nvCxnSpPr>
          <p:cNvPr id="72" name=""/>
          <p:cNvCxnSpPr>
            <a:stCxn xmlns:a="http://schemas.openxmlformats.org/drawingml/2006/main" id="15" idx="3"/>
            <a:endCxn xmlns:a="http://schemas.openxmlformats.org/drawingml/2006/main" id="17" idx="1"/>
          </p:cNvCxnSpPr>
          <p:nvPr/>
        </p:nvCxnSpPr>
        <p:spPr>
          <a:xfrm xmlns:a="http://schemas.openxmlformats.org/drawingml/2006/main">
            <a:off x="3257550" y="3524250"/>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73" name=""/>
          <p:cNvCxnSpPr>
            <a:stCxn xmlns:a="http://schemas.openxmlformats.org/drawingml/2006/main" id="17" idx="3"/>
            <a:endCxn xmlns:a="http://schemas.openxmlformats.org/drawingml/2006/main" id="19" idx="1"/>
          </p:cNvCxnSpPr>
          <p:nvPr/>
        </p:nvCxnSpPr>
        <p:spPr>
          <a:xfrm xmlns:a="http://schemas.openxmlformats.org/drawingml/2006/main">
            <a:off x="7524750" y="3524250"/>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sp>
        <p:nvSpPr>
          <p:cNvPr id="37" name="BASIC AUTH">
            <a:extLst xmlns:a="http://schemas.openxmlformats.org/drawingml/2006/main">
              <a:ext uri="{FF2B5EF4-FFF2-40B4-BE49-F238E27FC236}">
                <a16:creationId xmlns:a16="http://schemas.microsoft.com/office/drawing/2014/main" id="{C4233F4A-2C91-489E-B98A-C86BFA9F7F32}"/>
              </a:ext>
            </a:extLst>
          </p:cNvPr>
          <p:cNvSpPr>
            <a:spLocks xmlns:a="http://schemas.openxmlformats.org/drawingml/2006/main" noGrp="1"/>
          </p:cNvSpPr>
          <p:nvPr/>
        </p:nvSpPr>
        <p:spPr>
          <a:xfrm xmlns:a="http://schemas.openxmlformats.org/drawingml/2006/main">
            <a:off x="400050" y="27622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a:solidFill>
                  <a:srgbClr val="000000"/>
                </a:solidFill>
                <a:latin typeface="Arial"/>
                <a:ea typeface="Arial"/>
                <a:cs typeface="Arial"/>
              </a:defRPr>
            </a:pPr>
            <a:r>
              <a:rPr sz="1725">
                <a:solidFill>
                  <a:srgbClr val="000000"/>
                </a:solidFill>
                <a:latin typeface="Arial"/>
                <a:ea typeface="Arial"/>
                <a:cs typeface="Arial"/>
              </a:rPr>
              <a:t>BASIC AUTH</a:t>
            </a:r>
          </a:p>
        </p:txBody>
      </p:sp>
      <p:sp>
        <p:nvSpPr>
          <p:cNvPr id="38" name="Guest">
            <a:extLst xmlns:a="http://schemas.openxmlformats.org/drawingml/2006/main">
              <a:ext uri="{FF2B5EF4-FFF2-40B4-BE49-F238E27FC236}">
                <a16:creationId xmlns:a16="http://schemas.microsoft.com/office/drawing/2014/main" id="{83C53D7B-BE2F-4F73-B2A4-3984195F5F21}"/>
              </a:ext>
            </a:extLst>
          </p:cNvPr>
          <p:cNvSpPr>
            <a:spLocks xmlns:a="http://schemas.openxmlformats.org/drawingml/2006/main" noGrp="1"/>
          </p:cNvSpPr>
          <p:nvPr/>
        </p:nvSpPr>
        <p:spPr>
          <a:xfrm xmlns:a="http://schemas.openxmlformats.org/drawingml/2006/main">
            <a:off x="3333750" y="3152775"/>
            <a:ext cx="129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Guest</a:t>
            </a:r>
          </a:p>
        </p:txBody>
      </p:sp>
      <p:sp>
        <p:nvSpPr>
          <p:cNvPr id="39" name="Basic Auth">
            <a:extLst xmlns:a="http://schemas.openxmlformats.org/drawingml/2006/main">
              <a:ext uri="{FF2B5EF4-FFF2-40B4-BE49-F238E27FC236}">
                <a16:creationId xmlns:a16="http://schemas.microsoft.com/office/drawing/2014/main" id="{65C48DBB-87B5-418D-91EF-638136626DF1}"/>
              </a:ext>
            </a:extLst>
          </p:cNvPr>
          <p:cNvSpPr>
            <a:spLocks xmlns:a="http://schemas.openxmlformats.org/drawingml/2006/main" noGrp="1"/>
          </p:cNvSpPr>
          <p:nvPr/>
        </p:nvSpPr>
        <p:spPr>
          <a:xfrm xmlns:a="http://schemas.openxmlformats.org/drawingml/2006/main">
            <a:off x="7677150" y="3152775"/>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Basic Auth</a:t>
            </a:r>
          </a:p>
        </p:txBody>
      </p:sp>
      <p:cxnSp>
        <p:nvCxnSpPr>
          <p:cNvPr id="77" name=""/>
          <p:cNvCxnSpPr>
            <a:stCxn xmlns:a="http://schemas.openxmlformats.org/drawingml/2006/main" id="21" idx="3"/>
            <a:endCxn xmlns:a="http://schemas.openxmlformats.org/drawingml/2006/main" id="23" idx="1"/>
          </p:cNvCxnSpPr>
          <p:nvPr/>
        </p:nvCxnSpPr>
        <p:spPr>
          <a:xfrm xmlns:a="http://schemas.openxmlformats.org/drawingml/2006/main">
            <a:off x="3257550" y="4867275"/>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78" name=""/>
          <p:cNvCxnSpPr>
            <a:stCxn xmlns:a="http://schemas.openxmlformats.org/drawingml/2006/main" id="23" idx="3"/>
            <a:endCxn xmlns:a="http://schemas.openxmlformats.org/drawingml/2006/main" id="25" idx="1"/>
          </p:cNvCxnSpPr>
          <p:nvPr/>
        </p:nvCxnSpPr>
        <p:spPr>
          <a:xfrm xmlns:a="http://schemas.openxmlformats.org/drawingml/2006/main">
            <a:off x="7524750" y="4867275"/>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sp>
        <p:nvSpPr>
          <p:cNvPr id="42" name="MIXED MCP">
            <a:extLst xmlns:a="http://schemas.openxmlformats.org/drawingml/2006/main">
              <a:ext uri="{FF2B5EF4-FFF2-40B4-BE49-F238E27FC236}">
                <a16:creationId xmlns:a16="http://schemas.microsoft.com/office/drawing/2014/main" id="{8BF711DE-AB4B-452D-89AF-46EB87E570D2}"/>
              </a:ext>
            </a:extLst>
          </p:cNvPr>
          <p:cNvSpPr>
            <a:spLocks xmlns:a="http://schemas.openxmlformats.org/drawingml/2006/main" noGrp="1"/>
          </p:cNvSpPr>
          <p:nvPr/>
        </p:nvSpPr>
        <p:spPr>
          <a:xfrm xmlns:a="http://schemas.openxmlformats.org/drawingml/2006/main">
            <a:off x="400050" y="4105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a:solidFill>
                  <a:srgbClr val="000000"/>
                </a:solidFill>
                <a:latin typeface="Arial"/>
                <a:ea typeface="Arial"/>
                <a:cs typeface="Arial"/>
              </a:defRPr>
            </a:pPr>
            <a:r>
              <a:rPr sz="1725">
                <a:solidFill>
                  <a:srgbClr val="000000"/>
                </a:solidFill>
                <a:latin typeface="Arial"/>
                <a:ea typeface="Arial"/>
                <a:cs typeface="Arial"/>
              </a:rPr>
              <a:t>MIXED MCP</a:t>
            </a:r>
          </a:p>
        </p:txBody>
      </p:sp>
      <p:sp>
        <p:nvSpPr>
          <p:cNvPr id="43" name="Login">
            <a:extLst xmlns:a="http://schemas.openxmlformats.org/drawingml/2006/main">
              <a:ext uri="{FF2B5EF4-FFF2-40B4-BE49-F238E27FC236}">
                <a16:creationId xmlns:a16="http://schemas.microsoft.com/office/drawing/2014/main" id="{C8470911-FA78-4BAC-A567-093F3584AFEA}"/>
              </a:ext>
            </a:extLst>
          </p:cNvPr>
          <p:cNvSpPr>
            <a:spLocks xmlns:a="http://schemas.openxmlformats.org/drawingml/2006/main" noGrp="1"/>
          </p:cNvSpPr>
          <p:nvPr/>
        </p:nvSpPr>
        <p:spPr>
          <a:xfrm xmlns:a="http://schemas.openxmlformats.org/drawingml/2006/main">
            <a:off x="3333750" y="4495800"/>
            <a:ext cx="129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Login</a:t>
            </a:r>
          </a:p>
        </p:txBody>
      </p:sp>
      <p:sp>
        <p:nvSpPr>
          <p:cNvPr id="44" name="Basic Auth">
            <a:extLst xmlns:a="http://schemas.openxmlformats.org/drawingml/2006/main">
              <a:ext uri="{FF2B5EF4-FFF2-40B4-BE49-F238E27FC236}">
                <a16:creationId xmlns:a16="http://schemas.microsoft.com/office/drawing/2014/main" id="{70F1E849-E8B3-45C2-9E52-81A4981BF5A9}"/>
              </a:ext>
            </a:extLst>
          </p:cNvPr>
          <p:cNvSpPr>
            <a:spLocks xmlns:a="http://schemas.openxmlformats.org/drawingml/2006/main" noGrp="1"/>
          </p:cNvSpPr>
          <p:nvPr/>
        </p:nvSpPr>
        <p:spPr>
          <a:xfrm xmlns:a="http://schemas.openxmlformats.org/drawingml/2006/main">
            <a:off x="7677150" y="449580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Basic Auth</a:t>
            </a:r>
          </a:p>
        </p:txBody>
      </p:sp>
    </p:spTree>
    <p:extLst>
      <p:ext uri="{BB962C8B-B14F-4D97-AF65-F5344CB8AC3E}">
        <p14:creationId xmlns:p14="http://schemas.microsoft.com/office/powerpoint/2010/main" val="15765113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8FFB03-F53F-4CC1-B85A-4C657B610FC3}"/>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HR adds a separate service example</a:t>
            </a:r>
          </a:p>
        </p:txBody>
      </p:sp>
      <p:sp>
        <p:nvSpPr>
          <p:cNvPr id="2" name="">
            <a:extLst xmlns:a="http://schemas.openxmlformats.org/drawingml/2006/main">
              <a:ext uri="{FF2B5EF4-FFF2-40B4-BE49-F238E27FC236}">
                <a16:creationId xmlns:a16="http://schemas.microsoft.com/office/drawing/2014/main" id="{83320526-DB31-477D-B5B6-B0272B609279}"/>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09</a:t>
            </a:r>
          </a:p>
        </p:txBody>
      </p:sp>
      <p:sp>
        <p:nvSpPr>
          <p:cNvPr id="3" name="">
            <a:extLst xmlns:a="http://schemas.openxmlformats.org/drawingml/2006/main">
              <a:ext uri="{FF2B5EF4-FFF2-40B4-BE49-F238E27FC236}">
                <a16:creationId xmlns:a16="http://schemas.microsoft.com/office/drawing/2014/main" id="{34CAFFCA-87AD-4641-ADD4-750C8B7901F1}"/>
              </a:ext>
            </a:extLst>
          </p:cNvPr>
          <p:cNvSpPr>
            <a:spLocks xmlns:a="http://schemas.openxmlformats.org/drawingml/2006/main" noGrp="1"/>
          </p:cNvSpPr>
          <p:nvPr/>
        </p:nvSpPr>
        <p:spPr>
          <a:xfrm xmlns:a="http://schemas.openxmlformats.org/drawingml/2006/main">
            <a:off x="400050" y="2028825"/>
            <a:ext cx="5534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Portal and default API</a:t>
            </a:r>
          </a:p>
        </p:txBody>
      </p:sp>
      <p:sp>
        <p:nvSpPr>
          <p:cNvPr id="4" name="">
            <a:extLst xmlns:a="http://schemas.openxmlformats.org/drawingml/2006/main">
              <a:ext uri="{FF2B5EF4-FFF2-40B4-BE49-F238E27FC236}">
                <a16:creationId xmlns:a16="http://schemas.microsoft.com/office/drawing/2014/main" id="{9E7B4385-E883-4135-8CCE-F12275124382}"/>
              </a:ext>
            </a:extLst>
          </p:cNvPr>
          <p:cNvSpPr>
            <a:spLocks xmlns:a="http://schemas.openxmlformats.org/drawingml/2006/main" noGrp="1"/>
          </p:cNvSpPr>
          <p:nvPr/>
        </p:nvSpPr>
        <p:spPr>
          <a:xfrm xmlns:a="http://schemas.openxmlformats.org/drawingml/2006/main">
            <a:off x="400050" y="2667000"/>
            <a:ext cx="55340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000000"/>
                </a:solidFill>
              </a:defRPr>
            </a:pPr>
            <a:r>
              <a:rPr sz="2175" b="0">
                <a:solidFill>
                  <a:srgbClr val="000000"/>
                </a:solidFill>
              </a:rPr>
              <a:t>Quarkus + React portal</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Host port 8090 in Docker</a:t>
            </a:r>
          </a:p>
          <a:p xmlns:a="http://schemas.openxmlformats.org/drawingml/2006/main">
            <a:pPr>
              <a:buNone/>
              <a:defRPr sz="2175" b="0">
                <a:solidFill>
                  <a:srgbClr val="000000"/>
                </a:solidFill>
              </a:defRPr>
            </a:pPr>
            <a:r>
              <a:rPr sz="2175" b="0">
                <a:solidFill>
                  <a:srgbClr val="000000"/>
                </a:solidFill>
              </a:rPr>
              <a:t>Python FastAPI backend on 8081</a:t>
            </a:r>
          </a:p>
          <a:p xmlns:a="http://schemas.openxmlformats.org/drawingml/2006/main">
            <a:pPr>
              <a:buNone/>
              <a:defRPr sz="2175" b="0">
                <a:solidFill>
                  <a:srgbClr val="000000"/>
                </a:solidFill>
              </a:defRPr>
            </a:pPr>
            <a:r>
              <a:rPr sz="2175" b="0">
                <a:solidFill>
                  <a:srgbClr val="000000"/>
                </a:solidFill>
              </a:rPr>
              <a:t>Employee CRUD through a proxy</a:t>
            </a:r>
          </a:p>
        </p:txBody>
      </p:sp>
      <p:sp>
        <p:nvSpPr>
          <p:cNvPr id="5" name="">
            <a:extLst xmlns:a="http://schemas.openxmlformats.org/drawingml/2006/main">
              <a:ext uri="{FF2B5EF4-FFF2-40B4-BE49-F238E27FC236}">
                <a16:creationId xmlns:a16="http://schemas.microsoft.com/office/drawing/2014/main" id="{8D81AC8E-A501-4E43-AA99-20C5412C2F8C}"/>
              </a:ext>
            </a:extLst>
          </p:cNvPr>
          <p:cNvSpPr>
            <a:spLocks xmlns:a="http://schemas.openxmlformats.org/drawingml/2006/main" noGrp="1"/>
          </p:cNvSpPr>
          <p:nvPr/>
        </p:nvSpPr>
        <p:spPr>
          <a:xfrm xmlns:a="http://schemas.openxmlformats.org/drawingml/2006/main">
            <a:off x="6257925" y="2028825"/>
            <a:ext cx="5534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Alternative Java backend</a:t>
            </a:r>
          </a:p>
        </p:txBody>
      </p:sp>
      <p:sp>
        <p:nvSpPr>
          <p:cNvPr id="6" name="">
            <a:extLst xmlns:a="http://schemas.openxmlformats.org/drawingml/2006/main">
              <a:ext uri="{FF2B5EF4-FFF2-40B4-BE49-F238E27FC236}">
                <a16:creationId xmlns:a16="http://schemas.microsoft.com/office/drawing/2014/main" id="{20462E1D-9D95-42AA-848C-1B99E2D054BC}"/>
              </a:ext>
            </a:extLst>
          </p:cNvPr>
          <p:cNvSpPr>
            <a:spLocks xmlns:a="http://schemas.openxmlformats.org/drawingml/2006/main" noGrp="1"/>
          </p:cNvSpPr>
          <p:nvPr/>
        </p:nvSpPr>
        <p:spPr>
          <a:xfrm xmlns:a="http://schemas.openxmlformats.org/drawingml/2006/main">
            <a:off x="6257925" y="2667000"/>
            <a:ext cx="55340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000000"/>
                </a:solidFill>
              </a:defRPr>
            </a:pPr>
            <a:r>
              <a:rPr sz="2175" b="0">
                <a:solidFill>
                  <a:srgbClr val="000000"/>
                </a:solidFill>
              </a:rPr>
              <a:t>Standalone Quarkus API on 8089</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Each backend stores employee data in its own Markdown file.</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HR is outside the booking flow.</a:t>
            </a:r>
          </a:p>
        </p:txBody>
      </p:sp>
    </p:spTree>
    <p:extLst>
      <p:ext uri="{BB962C8B-B14F-4D97-AF65-F5344CB8AC3E}">
        <p14:creationId xmlns:p14="http://schemas.microsoft.com/office/powerpoint/2010/main" val="1706012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589E47-B5F9-4BA7-843C-037B66903877}"/>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Run the comparison locally</a:t>
            </a:r>
          </a:p>
        </p:txBody>
      </p:sp>
      <p:sp>
        <p:nvSpPr>
          <p:cNvPr id="2" name="">
            <a:extLst xmlns:a="http://schemas.openxmlformats.org/drawingml/2006/main">
              <a:ext uri="{FF2B5EF4-FFF2-40B4-BE49-F238E27FC236}">
                <a16:creationId xmlns:a16="http://schemas.microsoft.com/office/drawing/2014/main" id="{BF18342E-C52D-4D69-89BE-1429CE7836ED}"/>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10</a:t>
            </a:r>
          </a:p>
        </p:txBody>
      </p:sp>
      <p:sp>
        <p:nvSpPr>
          <p:cNvPr id="3" name="">
            <a:extLst xmlns:a="http://schemas.openxmlformats.org/drawingml/2006/main">
              <a:ext uri="{FF2B5EF4-FFF2-40B4-BE49-F238E27FC236}">
                <a16:creationId xmlns:a16="http://schemas.microsoft.com/office/drawing/2014/main" id="{B8AB8C0A-A4E8-47D7-A1A0-2CB3D9D6FA7D}"/>
              </a:ext>
            </a:extLst>
          </p:cNvPr>
          <p:cNvSpPr>
            <a:spLocks xmlns:a="http://schemas.openxmlformats.org/drawingml/2006/main" noGrp="1"/>
          </p:cNvSpPr>
          <p:nvPr/>
        </p:nvSpPr>
        <p:spPr>
          <a:xfrm xmlns:a="http://schemas.openxmlformats.org/drawingml/2006/main">
            <a:off x="400050" y="1714500"/>
            <a:ext cx="11391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Start the full OAuth stack</a:t>
            </a:r>
          </a:p>
        </p:txBody>
      </p:sp>
      <p:sp>
        <p:nvSpPr>
          <p:cNvPr id="4" name="">
            <a:extLst xmlns:a="http://schemas.openxmlformats.org/drawingml/2006/main">
              <a:ext uri="{FF2B5EF4-FFF2-40B4-BE49-F238E27FC236}">
                <a16:creationId xmlns:a16="http://schemas.microsoft.com/office/drawing/2014/main" id="{ADB13998-FDB6-4811-8BCF-F8EC200B5026}"/>
              </a:ext>
            </a:extLst>
          </p:cNvPr>
          <p:cNvSpPr>
            <a:spLocks xmlns:a="http://schemas.openxmlformats.org/drawingml/2006/main" noGrp="1"/>
          </p:cNvSpPr>
          <p:nvPr/>
        </p:nvSpPr>
        <p:spPr>
          <a:xfrm xmlns:a="http://schemas.openxmlformats.org/drawingml/2006/main">
            <a:off x="400050" y="24003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000000"/>
                </a:solidFill>
              </a:defRPr>
            </a:pPr>
            <a:r>
              <a:rPr sz="2250" b="0">
                <a:solidFill>
                  <a:srgbClr val="000000"/>
                </a:solidFill>
              </a:rPr>
              <a:t>docker compose -f local-container/docker_compose.yaml up --build</a:t>
            </a:r>
          </a:p>
        </p:txBody>
      </p:sp>
      <p:sp>
        <p:nvSpPr>
          <p:cNvPr id="5" name="">
            <a:extLst xmlns:a="http://schemas.openxmlformats.org/drawingml/2006/main">
              <a:ext uri="{FF2B5EF4-FFF2-40B4-BE49-F238E27FC236}">
                <a16:creationId xmlns:a16="http://schemas.microsoft.com/office/drawing/2014/main" id="{2D204511-B8CF-4A8C-82D9-1B82C5B9F82A}"/>
              </a:ext>
            </a:extLst>
          </p:cNvPr>
          <p:cNvSpPr>
            <a:spLocks xmlns:a="http://schemas.openxmlformats.org/drawingml/2006/main" noGrp="1"/>
          </p:cNvSpPr>
          <p:nvPr/>
        </p:nvSpPr>
        <p:spPr>
          <a:xfrm xmlns:a="http://schemas.openxmlformats.org/drawingml/2006/main">
            <a:off x="400050" y="4057650"/>
            <a:ext cx="3562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defRPr>
            </a:pPr>
            <a:r>
              <a:rPr sz="2400" b="0">
                <a:solidFill>
                  <a:srgbClr val="000000"/>
                </a:solidFill>
              </a:rPr>
              <a:t>REST UI</a:t>
            </a:r>
          </a:p>
          <a:p xmlns:a="http://schemas.openxmlformats.org/drawingml/2006/main">
            <a:pPr>
              <a:buNone/>
              <a:defRPr sz="2400" b="0">
                <a:solidFill>
                  <a:srgbClr val="000000"/>
                </a:solidFill>
              </a:defRPr>
            </a:pPr>
            <a:r>
              <a:rPr sz="2400" b="0">
                <a:solidFill>
                  <a:srgbClr val="000000"/>
                </a:solidFill>
              </a:rPr>
              <a:t>localhost:8083</a:t>
            </a:r>
          </a:p>
        </p:txBody>
      </p:sp>
      <p:sp>
        <p:nvSpPr>
          <p:cNvPr id="6" name="">
            <a:extLst xmlns:a="http://schemas.openxmlformats.org/drawingml/2006/main">
              <a:ext uri="{FF2B5EF4-FFF2-40B4-BE49-F238E27FC236}">
                <a16:creationId xmlns:a16="http://schemas.microsoft.com/office/drawing/2014/main" id="{88E72C41-3ED5-4893-ABB8-DACC2A597AB4}"/>
              </a:ext>
            </a:extLst>
          </p:cNvPr>
          <p:cNvSpPr>
            <a:spLocks xmlns:a="http://schemas.openxmlformats.org/drawingml/2006/main" noGrp="1"/>
          </p:cNvSpPr>
          <p:nvPr/>
        </p:nvSpPr>
        <p:spPr>
          <a:xfrm xmlns:a="http://schemas.openxmlformats.org/drawingml/2006/main">
            <a:off x="4314825" y="4057650"/>
            <a:ext cx="3562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defRPr>
            </a:pPr>
            <a:r>
              <a:rPr sz="2400" b="0">
                <a:solidFill>
                  <a:srgbClr val="000000"/>
                </a:solidFill>
              </a:rPr>
              <a:t>MCP UI</a:t>
            </a:r>
          </a:p>
          <a:p xmlns:a="http://schemas.openxmlformats.org/drawingml/2006/main">
            <a:pPr>
              <a:buNone/>
              <a:defRPr sz="2400" b="0">
                <a:solidFill>
                  <a:srgbClr val="000000"/>
                </a:solidFill>
              </a:defRPr>
            </a:pPr>
            <a:r>
              <a:rPr sz="2400" b="0">
                <a:solidFill>
                  <a:srgbClr val="000000"/>
                </a:solidFill>
              </a:rPr>
              <a:t>localhost:8085</a:t>
            </a:r>
          </a:p>
        </p:txBody>
      </p:sp>
      <p:sp>
        <p:nvSpPr>
          <p:cNvPr id="7" name="">
            <a:extLst xmlns:a="http://schemas.openxmlformats.org/drawingml/2006/main">
              <a:ext uri="{FF2B5EF4-FFF2-40B4-BE49-F238E27FC236}">
                <a16:creationId xmlns:a16="http://schemas.microsoft.com/office/drawing/2014/main" id="{EAB2CEE8-D413-4F68-A1A2-B88F035929EF}"/>
              </a:ext>
            </a:extLst>
          </p:cNvPr>
          <p:cNvSpPr>
            <a:spLocks xmlns:a="http://schemas.openxmlformats.org/drawingml/2006/main" noGrp="1"/>
          </p:cNvSpPr>
          <p:nvPr/>
        </p:nvSpPr>
        <p:spPr>
          <a:xfrm xmlns:a="http://schemas.openxmlformats.org/drawingml/2006/main">
            <a:off x="8229600" y="4057650"/>
            <a:ext cx="3562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defRPr>
            </a:pPr>
            <a:r>
              <a:rPr sz="2400" b="0">
                <a:solidFill>
                  <a:srgbClr val="000000"/>
                </a:solidFill>
              </a:rPr>
              <a:t>MCP endpoint</a:t>
            </a:r>
          </a:p>
          <a:p xmlns:a="http://schemas.openxmlformats.org/drawingml/2006/main">
            <a:pPr>
              <a:buNone/>
              <a:defRPr sz="2400" b="0">
                <a:solidFill>
                  <a:srgbClr val="000000"/>
                </a:solidFill>
              </a:defRPr>
            </a:pPr>
            <a:r>
              <a:rPr sz="2400" b="0">
                <a:solidFill>
                  <a:srgbClr val="000000"/>
                </a:solidFill>
              </a:rPr>
              <a:t>localhost:8084/mcp</a:t>
            </a:r>
          </a:p>
        </p:txBody>
      </p:sp>
      <p:sp>
        <p:nvSpPr>
          <p:cNvPr id="8" name="">
            <a:extLst xmlns:a="http://schemas.openxmlformats.org/drawingml/2006/main">
              <a:ext uri="{FF2B5EF4-FFF2-40B4-BE49-F238E27FC236}">
                <a16:creationId xmlns:a16="http://schemas.microsoft.com/office/drawing/2014/main" id="{79C9A85B-94C7-49C8-8176-670439E7FAFC}"/>
              </a:ext>
            </a:extLst>
          </p:cNvPr>
          <p:cNvSpPr>
            <a:spLocks xmlns:a="http://schemas.openxmlformats.org/drawingml/2006/main" noGrp="1"/>
          </p:cNvSpPr>
          <p:nvPr/>
        </p:nvSpPr>
        <p:spPr>
          <a:xfrm xmlns:a="http://schemas.openxmlformats.org/drawingml/2006/main">
            <a:off x="400050" y="5791200"/>
            <a:ext cx="1139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000000"/>
                </a:solidFill>
              </a:defRPr>
            </a:pPr>
            <a:r>
              <a:rPr sz="1875" b="0">
                <a:solidFill>
                  <a:srgbClr val="000000"/>
                </a:solidFill>
              </a:rPr>
              <a:t>Setup variants and login details: QUICKSTART.md</a:t>
            </a:r>
          </a:p>
        </p:txBody>
      </p:sp>
    </p:spTree>
    <p:extLst>
      <p:ext uri="{BB962C8B-B14F-4D97-AF65-F5344CB8AC3E}">
        <p14:creationId xmlns:p14="http://schemas.microsoft.com/office/powerpoint/2010/main" val="3348523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7386E03-EDF5-4A14-9ACA-BCAE3DE14A65}"/>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Demonstrate one booking in each path</a:t>
            </a:r>
          </a:p>
        </p:txBody>
      </p:sp>
      <p:sp>
        <p:nvSpPr>
          <p:cNvPr id="2" name="">
            <a:extLst xmlns:a="http://schemas.openxmlformats.org/drawingml/2006/main">
              <a:ext uri="{FF2B5EF4-FFF2-40B4-BE49-F238E27FC236}">
                <a16:creationId xmlns:a16="http://schemas.microsoft.com/office/drawing/2014/main" id="{85921D2F-050C-4503-880E-7C531ED759C1}"/>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11</a:t>
            </a:r>
          </a:p>
        </p:txBody>
      </p:sp>
      <p:sp>
        <p:nvSpPr>
          <p:cNvPr id="3" name="">
            <a:extLst xmlns:a="http://schemas.openxmlformats.org/drawingml/2006/main">
              <a:ext uri="{FF2B5EF4-FFF2-40B4-BE49-F238E27FC236}">
                <a16:creationId xmlns:a16="http://schemas.microsoft.com/office/drawing/2014/main" id="{DDE40291-7E6A-4F6A-B946-330A9E1A4DDD}"/>
              </a:ext>
            </a:extLst>
          </p:cNvPr>
          <p:cNvSpPr>
            <a:spLocks xmlns:a="http://schemas.openxmlformats.org/drawingml/2006/main" noGrp="1"/>
          </p:cNvSpPr>
          <p:nvPr/>
        </p:nvSpPr>
        <p:spPr>
          <a:xfrm xmlns:a="http://schemas.openxmlformats.org/drawingml/2006/main">
            <a:off x="400050"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1  REST booking</a:t>
            </a:r>
          </a:p>
        </p:txBody>
      </p:sp>
      <p:sp>
        <p:nvSpPr>
          <p:cNvPr id="4" name="">
            <a:extLst xmlns:a="http://schemas.openxmlformats.org/drawingml/2006/main">
              <a:ext uri="{FF2B5EF4-FFF2-40B4-BE49-F238E27FC236}">
                <a16:creationId xmlns:a16="http://schemas.microsoft.com/office/drawing/2014/main" id="{D7811C4F-7DFF-40CC-B925-9CE33E8CEA66}"/>
              </a:ext>
            </a:extLst>
          </p:cNvPr>
          <p:cNvSpPr>
            <a:spLocks xmlns:a="http://schemas.openxmlformats.org/drawingml/2006/main" noGrp="1"/>
          </p:cNvSpPr>
          <p:nvPr/>
        </p:nvSpPr>
        <p:spPr>
          <a:xfrm xmlns:a="http://schemas.openxmlformats.org/drawingml/2006/main">
            <a:off x="400050"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Open the REST UI.</a:t>
            </a:r>
          </a:p>
          <a:p xmlns:a="http://schemas.openxmlformats.org/drawingml/2006/main">
            <a:pPr>
              <a:buNone/>
              <a:defRPr sz="2100" b="0">
                <a:solidFill>
                  <a:srgbClr val="000000"/>
                </a:solidFill>
              </a:defRPr>
            </a:pPr>
            <a:r>
              <a:rPr sz="2100" b="0">
                <a:solidFill>
                  <a:srgbClr val="000000"/>
                </a:solidFill>
              </a:rPr>
              <a:t>Choose a traveler and flight.</a:t>
            </a:r>
          </a:p>
          <a:p xmlns:a="http://schemas.openxmlformats.org/drawingml/2006/main">
            <a:pPr>
              <a:buNone/>
              <a:defRPr sz="2100" b="0">
                <a:solidFill>
                  <a:srgbClr val="000000"/>
                </a:solidFill>
              </a:defRPr>
            </a:pPr>
            <a:r>
              <a:rPr sz="2100" b="0">
                <a:solidFill>
                  <a:srgbClr val="000000"/>
                </a:solidFill>
              </a:rPr>
              <a:t>Create and view a booking.</a:t>
            </a:r>
          </a:p>
        </p:txBody>
      </p:sp>
      <p:sp>
        <p:nvSpPr>
          <p:cNvPr id="5" name="">
            <a:extLst xmlns:a="http://schemas.openxmlformats.org/drawingml/2006/main">
              <a:ext uri="{FF2B5EF4-FFF2-40B4-BE49-F238E27FC236}">
                <a16:creationId xmlns:a16="http://schemas.microsoft.com/office/drawing/2014/main" id="{636599CD-12CA-4013-87BF-5930C315BE70}"/>
              </a:ext>
            </a:extLst>
          </p:cNvPr>
          <p:cNvSpPr>
            <a:spLocks xmlns:a="http://schemas.openxmlformats.org/drawingml/2006/main" noGrp="1"/>
          </p:cNvSpPr>
          <p:nvPr/>
        </p:nvSpPr>
        <p:spPr>
          <a:xfrm xmlns:a="http://schemas.openxmlformats.org/drawingml/2006/main">
            <a:off x="4314825"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2  MCP booking</a:t>
            </a:r>
          </a:p>
        </p:txBody>
      </p:sp>
      <p:sp>
        <p:nvSpPr>
          <p:cNvPr id="6" name="">
            <a:extLst xmlns:a="http://schemas.openxmlformats.org/drawingml/2006/main">
              <a:ext uri="{FF2B5EF4-FFF2-40B4-BE49-F238E27FC236}">
                <a16:creationId xmlns:a16="http://schemas.microsoft.com/office/drawing/2014/main" id="{9DEBF64F-8877-40E3-8D3B-8CDAFCEAA8E0}"/>
              </a:ext>
            </a:extLst>
          </p:cNvPr>
          <p:cNvSpPr>
            <a:spLocks xmlns:a="http://schemas.openxmlformats.org/drawingml/2006/main" noGrp="1"/>
          </p:cNvSpPr>
          <p:nvPr/>
        </p:nvSpPr>
        <p:spPr>
          <a:xfrm xmlns:a="http://schemas.openxmlformats.org/drawingml/2006/main">
            <a:off x="4314825"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Use the MCP UI for the same actions.</a:t>
            </a:r>
          </a:p>
          <a:p xmlns:a="http://schemas.openxmlformats.org/drawingml/2006/main">
            <a:pPr>
              <a:buNone/>
              <a:defRPr sz="2100" b="0">
                <a:solidFill>
                  <a:srgbClr val="000000"/>
                </a:solidFill>
              </a:defRPr>
            </a:pPr>
            <a:r>
              <a:rPr sz="2100" b="0">
                <a:solidFill>
                  <a:srgbClr val="000000"/>
                </a:solidFill>
              </a:rPr>
              <a:t>Show the corresponding tool names.</a:t>
            </a:r>
          </a:p>
        </p:txBody>
      </p:sp>
      <p:sp>
        <p:nvSpPr>
          <p:cNvPr id="7" name="">
            <a:extLst xmlns:a="http://schemas.openxmlformats.org/drawingml/2006/main">
              <a:ext uri="{FF2B5EF4-FFF2-40B4-BE49-F238E27FC236}">
                <a16:creationId xmlns:a16="http://schemas.microsoft.com/office/drawing/2014/main" id="{6CF51B1E-2D3B-453B-80BA-EFB52082727F}"/>
              </a:ext>
            </a:extLst>
          </p:cNvPr>
          <p:cNvSpPr>
            <a:spLocks xmlns:a="http://schemas.openxmlformats.org/drawingml/2006/main" noGrp="1"/>
          </p:cNvSpPr>
          <p:nvPr/>
        </p:nvSpPr>
        <p:spPr>
          <a:xfrm xmlns:a="http://schemas.openxmlformats.org/drawingml/2006/main">
            <a:off x="8229600"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3  Compare</a:t>
            </a:r>
          </a:p>
        </p:txBody>
      </p:sp>
      <p:sp>
        <p:nvSpPr>
          <p:cNvPr id="8" name="">
            <a:extLst xmlns:a="http://schemas.openxmlformats.org/drawingml/2006/main">
              <a:ext uri="{FF2B5EF4-FFF2-40B4-BE49-F238E27FC236}">
                <a16:creationId xmlns:a16="http://schemas.microsoft.com/office/drawing/2014/main" id="{259A459D-47DB-459C-8602-FAAD172B232F}"/>
              </a:ext>
            </a:extLst>
          </p:cNvPr>
          <p:cNvSpPr>
            <a:spLocks xmlns:a="http://schemas.openxmlformats.org/drawingml/2006/main" noGrp="1"/>
          </p:cNvSpPr>
          <p:nvPr/>
        </p:nvSpPr>
        <p:spPr>
          <a:xfrm xmlns:a="http://schemas.openxmlformats.org/drawingml/2006/main">
            <a:off x="8229600"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Cancel in each path.</a:t>
            </a:r>
          </a:p>
          <a:p xmlns:a="http://schemas.openxmlformats.org/drawingml/2006/main">
            <a:pPr>
              <a:buNone/>
              <a:defRPr sz="2100" b="0">
                <a:solidFill>
                  <a:srgbClr val="000000"/>
                </a:solidFill>
              </a:defRPr>
            </a:pPr>
            <a:r>
              <a:rPr sz="2100" b="0">
                <a:solidFill>
                  <a:srgbClr val="000000"/>
                </a:solidFill>
              </a:rPr>
              <a:t>Discuss credentials and results.</a:t>
            </a:r>
          </a:p>
          <a:p xmlns:a="http://schemas.openxmlformats.org/drawingml/2006/main">
            <a:pPr>
              <a:buNone/>
              <a:defRPr sz="2100" b="0">
                <a:solidFill>
                  <a:srgbClr val="000000"/>
                </a:solidFill>
              </a:defRPr>
            </a:pPr>
            <a:r>
              <a:rPr sz="2100" b="0">
                <a:solidFill>
                  <a:srgbClr val="000000"/>
                </a:solidFill>
              </a:rPr>
              <a:t>Observe independent state.</a:t>
            </a:r>
          </a:p>
        </p:txBody>
      </p:sp>
    </p:spTree>
    <p:extLst>
      <p:ext uri="{BB962C8B-B14F-4D97-AF65-F5344CB8AC3E}">
        <p14:creationId xmlns:p14="http://schemas.microsoft.com/office/powerpoint/2010/main" val="9570391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908C0D-3D63-481D-A216-5B666BCC6DAE}"/>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Local runtime and a cloud deployment path</a:t>
            </a:r>
          </a:p>
        </p:txBody>
      </p:sp>
      <p:sp>
        <p:nvSpPr>
          <p:cNvPr id="2" name="">
            <a:extLst xmlns:a="http://schemas.openxmlformats.org/drawingml/2006/main">
              <a:ext uri="{FF2B5EF4-FFF2-40B4-BE49-F238E27FC236}">
                <a16:creationId xmlns:a16="http://schemas.microsoft.com/office/drawing/2014/main" id="{C4CFC1F1-85C4-4E29-8BB0-E47257CC7A72}"/>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12</a:t>
            </a:r>
          </a:p>
        </p:txBody>
      </p:sp>
      <p:sp>
        <p:nvSpPr>
          <p:cNvPr id="3" name="">
            <a:extLst xmlns:a="http://schemas.openxmlformats.org/drawingml/2006/main">
              <a:ext uri="{FF2B5EF4-FFF2-40B4-BE49-F238E27FC236}">
                <a16:creationId xmlns:a16="http://schemas.microsoft.com/office/drawing/2014/main" id="{80FC6528-025E-4F34-A4DA-4C48FDD1780B}"/>
              </a:ext>
            </a:extLst>
          </p:cNvPr>
          <p:cNvSpPr>
            <a:spLocks xmlns:a="http://schemas.openxmlformats.org/drawingml/2006/main" noGrp="1"/>
          </p:cNvSpPr>
          <p:nvPr/>
        </p:nvSpPr>
        <p:spPr>
          <a:xfrm xmlns:a="http://schemas.openxmlformats.org/drawingml/2006/main">
            <a:off x="400050" y="2028825"/>
            <a:ext cx="5534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Docker Compose</a:t>
            </a:r>
          </a:p>
        </p:txBody>
      </p:sp>
      <p:sp>
        <p:nvSpPr>
          <p:cNvPr id="4" name="">
            <a:extLst xmlns:a="http://schemas.openxmlformats.org/drawingml/2006/main">
              <a:ext uri="{FF2B5EF4-FFF2-40B4-BE49-F238E27FC236}">
                <a16:creationId xmlns:a16="http://schemas.microsoft.com/office/drawing/2014/main" id="{770C12EB-8B21-447D-B4A3-73042C287621}"/>
              </a:ext>
            </a:extLst>
          </p:cNvPr>
          <p:cNvSpPr>
            <a:spLocks xmlns:a="http://schemas.openxmlformats.org/drawingml/2006/main" noGrp="1"/>
          </p:cNvSpPr>
          <p:nvPr/>
        </p:nvSpPr>
        <p:spPr>
          <a:xfrm xmlns:a="http://schemas.openxmlformats.org/drawingml/2006/main">
            <a:off x="400050" y="2667000"/>
            <a:ext cx="55340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000000"/>
                </a:solidFill>
              </a:defRPr>
            </a:pPr>
            <a:r>
              <a:rPr sz="2175" b="0">
                <a:solidFill>
                  <a:srgbClr val="000000"/>
                </a:solidFill>
              </a:rPr>
              <a:t>Primary demo runtime</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Full stack or individual paths</a:t>
            </a:r>
          </a:p>
          <a:p xmlns:a="http://schemas.openxmlformats.org/drawingml/2006/main">
            <a:pPr>
              <a:buNone/>
              <a:defRPr sz="2175" b="0">
                <a:solidFill>
                  <a:srgbClr val="000000"/>
                </a:solidFill>
              </a:defRPr>
            </a:pPr>
            <a:r>
              <a:rPr sz="2175" b="0">
                <a:solidFill>
                  <a:srgbClr val="000000"/>
                </a:solidFill>
              </a:rPr>
              <a:t>OAuth, Basic Auth, mixed MCP</a:t>
            </a:r>
          </a:p>
          <a:p xmlns:a="http://schemas.openxmlformats.org/drawingml/2006/main">
            <a:pPr>
              <a:buNone/>
              <a:defRPr sz="2175" b="0">
                <a:solidFill>
                  <a:srgbClr val="000000"/>
                </a:solidFill>
              </a:defRPr>
            </a:pPr>
            <a:r>
              <a:rPr sz="2175" b="0">
                <a:solidFill>
                  <a:srgbClr val="000000"/>
                </a:solidFill>
              </a:rPr>
              <a:t>VM / LAN configuration options</a:t>
            </a:r>
          </a:p>
        </p:txBody>
      </p:sp>
      <p:sp>
        <p:nvSpPr>
          <p:cNvPr id="5" name="">
            <a:extLst xmlns:a="http://schemas.openxmlformats.org/drawingml/2006/main">
              <a:ext uri="{FF2B5EF4-FFF2-40B4-BE49-F238E27FC236}">
                <a16:creationId xmlns:a16="http://schemas.microsoft.com/office/drawing/2014/main" id="{C96140AD-53E6-4CB9-90E7-BE50D5EB2E2E}"/>
              </a:ext>
            </a:extLst>
          </p:cNvPr>
          <p:cNvSpPr>
            <a:spLocks xmlns:a="http://schemas.openxmlformats.org/drawingml/2006/main" noGrp="1"/>
          </p:cNvSpPr>
          <p:nvPr/>
        </p:nvSpPr>
        <p:spPr>
          <a:xfrm xmlns:a="http://schemas.openxmlformats.org/drawingml/2006/main">
            <a:off x="6257925" y="2028825"/>
            <a:ext cx="5534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IBM Code Engine</a:t>
            </a:r>
          </a:p>
        </p:txBody>
      </p:sp>
      <p:sp>
        <p:nvSpPr>
          <p:cNvPr id="6" name="">
            <a:extLst xmlns:a="http://schemas.openxmlformats.org/drawingml/2006/main">
              <a:ext uri="{FF2B5EF4-FFF2-40B4-BE49-F238E27FC236}">
                <a16:creationId xmlns:a16="http://schemas.microsoft.com/office/drawing/2014/main" id="{63C009A2-84B4-488B-BD98-908CBCF6DBE5}"/>
              </a:ext>
            </a:extLst>
          </p:cNvPr>
          <p:cNvSpPr>
            <a:spLocks xmlns:a="http://schemas.openxmlformats.org/drawingml/2006/main" noGrp="1"/>
          </p:cNvSpPr>
          <p:nvPr/>
        </p:nvSpPr>
        <p:spPr>
          <a:xfrm xmlns:a="http://schemas.openxmlformats.org/drawingml/2006/main">
            <a:off x="6257925" y="2667000"/>
            <a:ext cx="55340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000000"/>
                </a:solidFill>
              </a:defRPr>
            </a:pPr>
            <a:r>
              <a:rPr sz="2175" b="0">
                <a:solidFill>
                  <a:srgbClr val="000000"/>
                </a:solidFill>
              </a:rPr>
              <a:t>Bash scripts + IBM Cloud CLI</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Source builds or prebuilt images</a:t>
            </a:r>
          </a:p>
          <a:p xmlns:a="http://schemas.openxmlformats.org/drawingml/2006/main">
            <a:pPr>
              <a:buNone/>
              <a:defRPr sz="2175" b="0">
                <a:solidFill>
                  <a:srgbClr val="000000"/>
                </a:solidFill>
              </a:defRPr>
            </a:pPr>
            <a:r>
              <a:rPr sz="2175" b="0">
                <a:solidFill>
                  <a:srgbClr val="000000"/>
                </a:solidFill>
              </a:rPr>
              <a:t>Basic Auth is the default</a:t>
            </a:r>
          </a:p>
          <a:p xmlns:a="http://schemas.openxmlformats.org/drawingml/2006/main">
            <a:pPr>
              <a:buNone/>
              <a:defRPr sz="2175" b="0">
                <a:solidFill>
                  <a:srgbClr val="000000"/>
                </a:solidFill>
              </a:defRPr>
            </a:pPr>
            <a:r>
              <a:rPr sz="2175" b="0">
                <a:solidFill>
                  <a:srgbClr val="000000"/>
                </a:solidFill>
              </a:rPr>
              <a:t>Public URLs configure dependencies</a:t>
            </a:r>
          </a:p>
        </p:txBody>
      </p:sp>
    </p:spTree>
    <p:extLst>
      <p:ext uri="{BB962C8B-B14F-4D97-AF65-F5344CB8AC3E}">
        <p14:creationId xmlns:p14="http://schemas.microsoft.com/office/powerpoint/2010/main" val="1642079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84E9F4A-5E53-4987-95B2-3C0E1BDF0C42}"/>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Clients reach three deployment environments</a:t>
            </a:r>
          </a:p>
        </p:txBody>
      </p:sp>
      <p:sp>
        <p:nvSpPr>
          <p:cNvPr id="2" name="">
            <a:extLst xmlns:a="http://schemas.openxmlformats.org/drawingml/2006/main">
              <a:ext uri="{FF2B5EF4-FFF2-40B4-BE49-F238E27FC236}">
                <a16:creationId xmlns:a16="http://schemas.microsoft.com/office/drawing/2014/main" id="{DE73828E-3435-4504-8081-654D6ED4C159}"/>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13</a:t>
            </a:r>
          </a:p>
        </p:txBody>
      </p:sp>
      <p:sp>
        <p:nvSpPr>
          <p:cNvPr id="9" name="">
            <a:extLst xmlns:a="http://schemas.openxmlformats.org/drawingml/2006/main">
              <a:ext uri="{FF2B5EF4-FFF2-40B4-BE49-F238E27FC236}">
                <a16:creationId xmlns:a16="http://schemas.microsoft.com/office/drawing/2014/main" id="{CCCF12D9-D1B2-4D97-8E50-DD71DFEAC020}"/>
              </a:ext>
            </a:extLst>
          </p:cNvPr>
          <p:cNvSpPr>
            <a:spLocks xmlns:a="http://schemas.openxmlformats.org/drawingml/2006/main" noGrp="1"/>
          </p:cNvSpPr>
          <p:nvPr/>
        </p:nvSpPr>
        <p:spPr>
          <a:xfrm xmlns:a="http://schemas.openxmlformats.org/drawingml/2006/main">
            <a:off x="400050" y="17145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6DE383-B3F9-49A7-AF0F-1722B8108687}"/>
              </a:ext>
            </a:extLst>
          </p:cNvPr>
          <p:cNvSpPr>
            <a:spLocks xmlns:a="http://schemas.openxmlformats.org/drawingml/2006/main" noGrp="1"/>
          </p:cNvSpPr>
          <p:nvPr/>
        </p:nvSpPr>
        <p:spPr>
          <a:xfrm xmlns:a="http://schemas.openxmlformats.org/drawingml/2006/main">
            <a:off x="571500" y="18288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Local browser</a:t>
            </a:r>
          </a:p>
          <a:p xmlns:a="http://schemas.openxmlformats.org/drawingml/2006/main">
            <a:pPr>
              <a:buNone/>
              <a:defRPr sz="2100" b="1">
                <a:solidFill>
                  <a:srgbClr val="000000"/>
                </a:solidFill>
              </a:defRPr>
            </a:pPr>
            <a:r>
              <a:rPr sz="2100" b="1">
                <a:solidFill>
                  <a:srgbClr val="000000"/>
                </a:solidFill>
              </a:rPr>
              <a:t>or MCP client</a:t>
            </a:r>
          </a:p>
        </p:txBody>
      </p:sp>
      <p:sp>
        <p:nvSpPr>
          <p:cNvPr id="11" name="">
            <a:extLst xmlns:a="http://schemas.openxmlformats.org/drawingml/2006/main">
              <a:ext uri="{FF2B5EF4-FFF2-40B4-BE49-F238E27FC236}">
                <a16:creationId xmlns:a16="http://schemas.microsoft.com/office/drawing/2014/main" id="{B8D864A9-87C3-44F5-9D40-431CF13492CD}"/>
              </a:ext>
            </a:extLst>
          </p:cNvPr>
          <p:cNvSpPr>
            <a:spLocks xmlns:a="http://schemas.openxmlformats.org/drawingml/2006/main" noGrp="1"/>
          </p:cNvSpPr>
          <p:nvPr/>
        </p:nvSpPr>
        <p:spPr>
          <a:xfrm xmlns:a="http://schemas.openxmlformats.org/drawingml/2006/main">
            <a:off x="4667250" y="17145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0FB79D7-BC0F-4A93-9A0A-D908191BF56E}"/>
              </a:ext>
            </a:extLst>
          </p:cNvPr>
          <p:cNvSpPr>
            <a:spLocks xmlns:a="http://schemas.openxmlformats.org/drawingml/2006/main" noGrp="1"/>
          </p:cNvSpPr>
          <p:nvPr/>
        </p:nvSpPr>
        <p:spPr>
          <a:xfrm xmlns:a="http://schemas.openxmlformats.org/drawingml/2006/main">
            <a:off x="4838700" y="18288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localhost</a:t>
            </a:r>
          </a:p>
          <a:p xmlns:a="http://schemas.openxmlformats.org/drawingml/2006/main">
            <a:pPr>
              <a:buNone/>
              <a:defRPr sz="2100" b="1">
                <a:solidFill>
                  <a:srgbClr val="000000"/>
                </a:solidFill>
              </a:defRPr>
            </a:pPr>
            <a:r>
              <a:rPr sz="2100" b="1">
                <a:solidFill>
                  <a:srgbClr val="000000"/>
                </a:solidFill>
              </a:rPr>
              <a:t>Published ports</a:t>
            </a:r>
          </a:p>
        </p:txBody>
      </p:sp>
      <p:sp>
        <p:nvSpPr>
          <p:cNvPr id="13" name="">
            <a:extLst xmlns:a="http://schemas.openxmlformats.org/drawingml/2006/main">
              <a:ext uri="{FF2B5EF4-FFF2-40B4-BE49-F238E27FC236}">
                <a16:creationId xmlns:a16="http://schemas.microsoft.com/office/drawing/2014/main" id="{65AE7E24-44C1-4895-BFC7-1846A28133A8}"/>
              </a:ext>
            </a:extLst>
          </p:cNvPr>
          <p:cNvSpPr>
            <a:spLocks xmlns:a="http://schemas.openxmlformats.org/drawingml/2006/main" noGrp="1"/>
          </p:cNvSpPr>
          <p:nvPr/>
        </p:nvSpPr>
        <p:spPr>
          <a:xfrm xmlns:a="http://schemas.openxmlformats.org/drawingml/2006/main">
            <a:off x="8934450" y="17145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770C5D-32EA-48A8-AB53-2916043BCE94}"/>
              </a:ext>
            </a:extLst>
          </p:cNvPr>
          <p:cNvSpPr>
            <a:spLocks xmlns:a="http://schemas.openxmlformats.org/drawingml/2006/main" noGrp="1"/>
          </p:cNvSpPr>
          <p:nvPr/>
        </p:nvSpPr>
        <p:spPr>
          <a:xfrm xmlns:a="http://schemas.openxmlformats.org/drawingml/2006/main">
            <a:off x="9105900" y="18288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Docker Compose</a:t>
            </a:r>
          </a:p>
          <a:p xmlns:a="http://schemas.openxmlformats.org/drawingml/2006/main">
            <a:pPr>
              <a:buNone/>
              <a:defRPr sz="2100" b="1">
                <a:solidFill>
                  <a:srgbClr val="000000"/>
                </a:solidFill>
              </a:defRPr>
            </a:pPr>
            <a:r>
              <a:rPr sz="2100" b="1">
                <a:solidFill>
                  <a:srgbClr val="000000"/>
                </a:solidFill>
              </a:rPr>
              <a:t>Local containers</a:t>
            </a:r>
          </a:p>
        </p:txBody>
      </p:sp>
      <p:sp>
        <p:nvSpPr>
          <p:cNvPr id="15" name="">
            <a:extLst xmlns:a="http://schemas.openxmlformats.org/drawingml/2006/main">
              <a:ext uri="{FF2B5EF4-FFF2-40B4-BE49-F238E27FC236}">
                <a16:creationId xmlns:a16="http://schemas.microsoft.com/office/drawing/2014/main" id="{F9D2DDA2-B445-4FE1-8235-2E17B6DCF9FF}"/>
              </a:ext>
            </a:extLst>
          </p:cNvPr>
          <p:cNvSpPr>
            <a:spLocks xmlns:a="http://schemas.openxmlformats.org/drawingml/2006/main" noGrp="1"/>
          </p:cNvSpPr>
          <p:nvPr/>
        </p:nvSpPr>
        <p:spPr>
          <a:xfrm xmlns:a="http://schemas.openxmlformats.org/drawingml/2006/main">
            <a:off x="400050" y="30480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BC6D76-8411-4640-852A-9EB1CB2C1EDD}"/>
              </a:ext>
            </a:extLst>
          </p:cNvPr>
          <p:cNvSpPr>
            <a:spLocks xmlns:a="http://schemas.openxmlformats.org/drawingml/2006/main" noGrp="1"/>
          </p:cNvSpPr>
          <p:nvPr/>
        </p:nvSpPr>
        <p:spPr>
          <a:xfrm xmlns:a="http://schemas.openxmlformats.org/drawingml/2006/main">
            <a:off x="571500" y="31623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VM / LAN client</a:t>
            </a:r>
          </a:p>
        </p:txBody>
      </p:sp>
      <p:sp>
        <p:nvSpPr>
          <p:cNvPr id="17" name="">
            <a:extLst xmlns:a="http://schemas.openxmlformats.org/drawingml/2006/main">
              <a:ext uri="{FF2B5EF4-FFF2-40B4-BE49-F238E27FC236}">
                <a16:creationId xmlns:a16="http://schemas.microsoft.com/office/drawing/2014/main" id="{26AA9464-9DD9-432E-99D7-3A78A8A4A8AA}"/>
              </a:ext>
            </a:extLst>
          </p:cNvPr>
          <p:cNvSpPr>
            <a:spLocks xmlns:a="http://schemas.openxmlformats.org/drawingml/2006/main" noGrp="1"/>
          </p:cNvSpPr>
          <p:nvPr/>
        </p:nvSpPr>
        <p:spPr>
          <a:xfrm xmlns:a="http://schemas.openxmlformats.org/drawingml/2006/main">
            <a:off x="4667250" y="30480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373A548-FABE-4C43-A89D-299E82A3732A}"/>
              </a:ext>
            </a:extLst>
          </p:cNvPr>
          <p:cNvSpPr>
            <a:spLocks xmlns:a="http://schemas.openxmlformats.org/drawingml/2006/main" noGrp="1"/>
          </p:cNvSpPr>
          <p:nvPr/>
        </p:nvSpPr>
        <p:spPr>
          <a:xfrm xmlns:a="http://schemas.openxmlformats.org/drawingml/2006/main">
            <a:off x="4838700" y="31623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Host IP / DNS</a:t>
            </a:r>
          </a:p>
          <a:p xmlns:a="http://schemas.openxmlformats.org/drawingml/2006/main">
            <a:pPr>
              <a:buNone/>
              <a:defRPr sz="2100" b="1">
                <a:solidFill>
                  <a:srgbClr val="000000"/>
                </a:solidFill>
              </a:defRPr>
            </a:pPr>
            <a:r>
              <a:rPr sz="2100" b="1">
                <a:solidFill>
                  <a:srgbClr val="000000"/>
                </a:solidFill>
              </a:rPr>
              <a:t>Published ports</a:t>
            </a:r>
          </a:p>
        </p:txBody>
      </p:sp>
      <p:sp>
        <p:nvSpPr>
          <p:cNvPr id="19" name="">
            <a:extLst xmlns:a="http://schemas.openxmlformats.org/drawingml/2006/main">
              <a:ext uri="{FF2B5EF4-FFF2-40B4-BE49-F238E27FC236}">
                <a16:creationId xmlns:a16="http://schemas.microsoft.com/office/drawing/2014/main" id="{5993CB56-AB11-460F-9D86-BBCA4841ADC2}"/>
              </a:ext>
            </a:extLst>
          </p:cNvPr>
          <p:cNvSpPr>
            <a:spLocks xmlns:a="http://schemas.openxmlformats.org/drawingml/2006/main" noGrp="1"/>
          </p:cNvSpPr>
          <p:nvPr/>
        </p:nvSpPr>
        <p:spPr>
          <a:xfrm xmlns:a="http://schemas.openxmlformats.org/drawingml/2006/main">
            <a:off x="8934450" y="30480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D94E6AB-DBC9-47F9-BE39-EEBFEE34B9FC}"/>
              </a:ext>
            </a:extLst>
          </p:cNvPr>
          <p:cNvSpPr>
            <a:spLocks xmlns:a="http://schemas.openxmlformats.org/drawingml/2006/main" noGrp="1"/>
          </p:cNvSpPr>
          <p:nvPr/>
        </p:nvSpPr>
        <p:spPr>
          <a:xfrm xmlns:a="http://schemas.openxmlformats.org/drawingml/2006/main">
            <a:off x="9105900" y="31623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Docker Compose</a:t>
            </a:r>
          </a:p>
          <a:p xmlns:a="http://schemas.openxmlformats.org/drawingml/2006/main">
            <a:pPr>
              <a:buNone/>
              <a:defRPr sz="2100" b="1">
                <a:solidFill>
                  <a:srgbClr val="000000"/>
                </a:solidFill>
              </a:defRPr>
            </a:pPr>
            <a:r>
              <a:rPr sz="2100" b="1">
                <a:solidFill>
                  <a:srgbClr val="000000"/>
                </a:solidFill>
              </a:rPr>
              <a:t>Host containers</a:t>
            </a:r>
          </a:p>
        </p:txBody>
      </p:sp>
      <p:sp>
        <p:nvSpPr>
          <p:cNvPr id="21" name="">
            <a:extLst xmlns:a="http://schemas.openxmlformats.org/drawingml/2006/main">
              <a:ext uri="{FF2B5EF4-FFF2-40B4-BE49-F238E27FC236}">
                <a16:creationId xmlns:a16="http://schemas.microsoft.com/office/drawing/2014/main" id="{488DB7C5-1759-4090-820F-03F15F04B7A5}"/>
              </a:ext>
            </a:extLst>
          </p:cNvPr>
          <p:cNvSpPr>
            <a:spLocks xmlns:a="http://schemas.openxmlformats.org/drawingml/2006/main" noGrp="1"/>
          </p:cNvSpPr>
          <p:nvPr/>
        </p:nvSpPr>
        <p:spPr>
          <a:xfrm xmlns:a="http://schemas.openxmlformats.org/drawingml/2006/main">
            <a:off x="400050" y="43815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C4E6F91-7F4D-4A91-A4EE-F564B0F81273}"/>
              </a:ext>
            </a:extLst>
          </p:cNvPr>
          <p:cNvSpPr>
            <a:spLocks xmlns:a="http://schemas.openxmlformats.org/drawingml/2006/main" noGrp="1"/>
          </p:cNvSpPr>
          <p:nvPr/>
        </p:nvSpPr>
        <p:spPr>
          <a:xfrm xmlns:a="http://schemas.openxmlformats.org/drawingml/2006/main">
            <a:off x="571500" y="44958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Cloud client</a:t>
            </a:r>
          </a:p>
        </p:txBody>
      </p:sp>
      <p:sp>
        <p:nvSpPr>
          <p:cNvPr id="23" name="">
            <a:extLst xmlns:a="http://schemas.openxmlformats.org/drawingml/2006/main">
              <a:ext uri="{FF2B5EF4-FFF2-40B4-BE49-F238E27FC236}">
                <a16:creationId xmlns:a16="http://schemas.microsoft.com/office/drawing/2014/main" id="{DD644AA2-489A-47CE-9DB5-BD3C42E281C5}"/>
              </a:ext>
            </a:extLst>
          </p:cNvPr>
          <p:cNvSpPr>
            <a:spLocks xmlns:a="http://schemas.openxmlformats.org/drawingml/2006/main" noGrp="1"/>
          </p:cNvSpPr>
          <p:nvPr/>
        </p:nvSpPr>
        <p:spPr>
          <a:xfrm xmlns:a="http://schemas.openxmlformats.org/drawingml/2006/main">
            <a:off x="4667250" y="43815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EC216C6-3724-4D7E-8BEF-9B68B9043F5C}"/>
              </a:ext>
            </a:extLst>
          </p:cNvPr>
          <p:cNvSpPr>
            <a:spLocks xmlns:a="http://schemas.openxmlformats.org/drawingml/2006/main" noGrp="1"/>
          </p:cNvSpPr>
          <p:nvPr/>
        </p:nvSpPr>
        <p:spPr>
          <a:xfrm xmlns:a="http://schemas.openxmlformats.org/drawingml/2006/main">
            <a:off x="4838700" y="44958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Public HTTPS</a:t>
            </a:r>
          </a:p>
          <a:p xmlns:a="http://schemas.openxmlformats.org/drawingml/2006/main">
            <a:pPr>
              <a:buNone/>
              <a:defRPr sz="2100" b="1">
                <a:solidFill>
                  <a:srgbClr val="000000"/>
                </a:solidFill>
              </a:defRPr>
            </a:pPr>
            <a:r>
              <a:rPr sz="2100" b="1">
                <a:solidFill>
                  <a:srgbClr val="000000"/>
                </a:solidFill>
              </a:rPr>
              <a:t>Application URLs</a:t>
            </a:r>
          </a:p>
        </p:txBody>
      </p:sp>
      <p:sp>
        <p:nvSpPr>
          <p:cNvPr id="25" name="">
            <a:extLst xmlns:a="http://schemas.openxmlformats.org/drawingml/2006/main">
              <a:ext uri="{FF2B5EF4-FFF2-40B4-BE49-F238E27FC236}">
                <a16:creationId xmlns:a16="http://schemas.microsoft.com/office/drawing/2014/main" id="{433CC075-CE6F-4B94-902A-370BA01F3C78}"/>
              </a:ext>
            </a:extLst>
          </p:cNvPr>
          <p:cNvSpPr>
            <a:spLocks xmlns:a="http://schemas.openxmlformats.org/drawingml/2006/main" noGrp="1"/>
          </p:cNvSpPr>
          <p:nvPr/>
        </p:nvSpPr>
        <p:spPr>
          <a:xfrm xmlns:a="http://schemas.openxmlformats.org/drawingml/2006/main">
            <a:off x="8934450" y="4381500"/>
            <a:ext cx="2857500" cy="819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231A280-2344-4C3B-BA20-BAF2886CFA5C}"/>
              </a:ext>
            </a:extLst>
          </p:cNvPr>
          <p:cNvSpPr>
            <a:spLocks xmlns:a="http://schemas.openxmlformats.org/drawingml/2006/main" noGrp="1"/>
          </p:cNvSpPr>
          <p:nvPr/>
        </p:nvSpPr>
        <p:spPr>
          <a:xfrm xmlns:a="http://schemas.openxmlformats.org/drawingml/2006/main">
            <a:off x="9105900" y="44958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000000"/>
                </a:solidFill>
              </a:defRPr>
            </a:pPr>
            <a:r>
              <a:rPr sz="2100" b="1">
                <a:solidFill>
                  <a:srgbClr val="000000"/>
                </a:solidFill>
              </a:rPr>
              <a:t>Code Engine</a:t>
            </a:r>
          </a:p>
          <a:p xmlns:a="http://schemas.openxmlformats.org/drawingml/2006/main">
            <a:pPr>
              <a:buNone/>
              <a:defRPr sz="2100" b="1">
                <a:solidFill>
                  <a:srgbClr val="000000"/>
                </a:solidFill>
              </a:defRPr>
            </a:pPr>
            <a:r>
              <a:rPr sz="2100" b="1">
                <a:solidFill>
                  <a:srgbClr val="000000"/>
                </a:solidFill>
              </a:rPr>
              <a:t>App instances</a:t>
            </a:r>
          </a:p>
        </p:txBody>
      </p:sp>
      <p:sp>
        <p:nvSpPr>
          <p:cNvPr id="27" name="">
            <a:extLst xmlns:a="http://schemas.openxmlformats.org/drawingml/2006/main">
              <a:ext uri="{FF2B5EF4-FFF2-40B4-BE49-F238E27FC236}">
                <a16:creationId xmlns:a16="http://schemas.microsoft.com/office/drawing/2014/main" id="{04B020C4-BD65-489A-BE51-226A7FC3F904}"/>
              </a:ext>
            </a:extLst>
          </p:cNvPr>
          <p:cNvSpPr>
            <a:spLocks xmlns:a="http://schemas.openxmlformats.org/drawingml/2006/main" noGrp="1"/>
          </p:cNvSpPr>
          <p:nvPr/>
        </p:nvSpPr>
        <p:spPr>
          <a:xfrm xmlns:a="http://schemas.openxmlformats.org/drawingml/2006/main">
            <a:off x="400050" y="5562600"/>
            <a:ext cx="11391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000000"/>
                </a:solidFill>
              </a:defRPr>
            </a:pPr>
            <a:r>
              <a:rPr sz="2025" b="0">
                <a:solidFill>
                  <a:srgbClr val="000000"/>
                </a:solidFill>
              </a:rPr>
              <a:t>LAN OAuth needs a reachable public issuer; cloud apps use generated URLs.</a:t>
            </a:r>
          </a:p>
        </p:txBody>
      </p:sp>
      <p:sp>
        <p:nvSpPr>
          <p:cNvPr id="28" name="">
            <a:extLst xmlns:a="http://schemas.openxmlformats.org/drawingml/2006/main">
              <a:ext uri="{FF2B5EF4-FFF2-40B4-BE49-F238E27FC236}">
                <a16:creationId xmlns:a16="http://schemas.microsoft.com/office/drawing/2014/main" id="{4E77556E-D4F2-4DC6-890E-2FAD7327B2BE}"/>
              </a:ext>
            </a:extLst>
          </p:cNvPr>
          <p:cNvSpPr>
            <a:spLocks xmlns:a="http://schemas.openxmlformats.org/drawingml/2006/main" noGrp="1"/>
          </p:cNvSpPr>
          <p:nvPr/>
        </p:nvSpPr>
        <p:spPr>
          <a:xfrm xmlns:a="http://schemas.openxmlformats.org/drawingml/2006/main">
            <a:off x="400050" y="60007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000000"/>
                </a:solidFill>
              </a:defRPr>
            </a:pPr>
            <a:r>
              <a:rPr sz="1725" b="0">
                <a:solidFill>
                  <a:srgbClr val="000000"/>
                </a:solidFill>
              </a:rPr>
              <a:t>Code Engine: five Python services, optional Keycloak; live cloud validation remains open.</a:t>
            </a:r>
          </a:p>
        </p:txBody>
      </p:sp>
      <p:cxnSp>
        <p:nvCxnSpPr>
          <p:cNvPr id="67" name=""/>
          <p:cNvCxnSpPr>
            <a:stCxn xmlns:a="http://schemas.openxmlformats.org/drawingml/2006/main" id="9" idx="3"/>
            <a:endCxn xmlns:a="http://schemas.openxmlformats.org/drawingml/2006/main" id="11" idx="1"/>
          </p:cNvCxnSpPr>
          <p:nvPr/>
        </p:nvCxnSpPr>
        <p:spPr>
          <a:xfrm xmlns:a="http://schemas.openxmlformats.org/drawingml/2006/main">
            <a:off x="3257550" y="2124075"/>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68" name=""/>
          <p:cNvCxnSpPr>
            <a:stCxn xmlns:a="http://schemas.openxmlformats.org/drawingml/2006/main" id="11" idx="3"/>
            <a:endCxn xmlns:a="http://schemas.openxmlformats.org/drawingml/2006/main" id="13" idx="1"/>
          </p:cNvCxnSpPr>
          <p:nvPr/>
        </p:nvCxnSpPr>
        <p:spPr>
          <a:xfrm xmlns:a="http://schemas.openxmlformats.org/drawingml/2006/main">
            <a:off x="7524750" y="2124075"/>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sp>
        <p:nvSpPr>
          <p:cNvPr id="32" name="LOCAL MACHINE">
            <a:extLst xmlns:a="http://schemas.openxmlformats.org/drawingml/2006/main">
              <a:ext uri="{FF2B5EF4-FFF2-40B4-BE49-F238E27FC236}">
                <a16:creationId xmlns:a16="http://schemas.microsoft.com/office/drawing/2014/main" id="{0E710FD8-D9ED-40EE-AE0D-471625A38DD7}"/>
              </a:ext>
            </a:extLst>
          </p:cNvPr>
          <p:cNvSpPr>
            <a:spLocks xmlns:a="http://schemas.openxmlformats.org/drawingml/2006/main" noGrp="1"/>
          </p:cNvSpPr>
          <p:nvPr/>
        </p:nvSpPr>
        <p:spPr>
          <a:xfrm xmlns:a="http://schemas.openxmlformats.org/drawingml/2006/main">
            <a:off x="400050" y="13811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a:solidFill>
                  <a:srgbClr val="000000"/>
                </a:solidFill>
                <a:latin typeface="Arial"/>
                <a:ea typeface="Arial"/>
                <a:cs typeface="Arial"/>
              </a:defRPr>
            </a:pPr>
            <a:r>
              <a:rPr sz="1725">
                <a:solidFill>
                  <a:srgbClr val="000000"/>
                </a:solidFill>
                <a:latin typeface="Arial"/>
                <a:ea typeface="Arial"/>
                <a:cs typeface="Arial"/>
              </a:rPr>
              <a:t>LOCAL MACHINE</a:t>
            </a:r>
          </a:p>
        </p:txBody>
      </p:sp>
      <p:sp>
        <p:nvSpPr>
          <p:cNvPr id="33" name="HTTP">
            <a:extLst xmlns:a="http://schemas.openxmlformats.org/drawingml/2006/main">
              <a:ext uri="{FF2B5EF4-FFF2-40B4-BE49-F238E27FC236}">
                <a16:creationId xmlns:a16="http://schemas.microsoft.com/office/drawing/2014/main" id="{F0D0E501-005B-42D9-8916-2ED5E068BC27}"/>
              </a:ext>
            </a:extLst>
          </p:cNvPr>
          <p:cNvSpPr>
            <a:spLocks xmlns:a="http://schemas.openxmlformats.org/drawingml/2006/main" noGrp="1"/>
          </p:cNvSpPr>
          <p:nvPr/>
        </p:nvSpPr>
        <p:spPr>
          <a:xfrm xmlns:a="http://schemas.openxmlformats.org/drawingml/2006/main">
            <a:off x="3581400" y="175260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HTTP</a:t>
            </a:r>
          </a:p>
        </p:txBody>
      </p:sp>
      <p:sp>
        <p:nvSpPr>
          <p:cNvPr id="34" name="Ports">
            <a:extLst xmlns:a="http://schemas.openxmlformats.org/drawingml/2006/main">
              <a:ext uri="{FF2B5EF4-FFF2-40B4-BE49-F238E27FC236}">
                <a16:creationId xmlns:a16="http://schemas.microsoft.com/office/drawing/2014/main" id="{1134ED96-7926-42E7-B6F4-093342FFDC4A}"/>
              </a:ext>
            </a:extLst>
          </p:cNvPr>
          <p:cNvSpPr>
            <a:spLocks xmlns:a="http://schemas.openxmlformats.org/drawingml/2006/main" noGrp="1"/>
          </p:cNvSpPr>
          <p:nvPr/>
        </p:nvSpPr>
        <p:spPr>
          <a:xfrm xmlns:a="http://schemas.openxmlformats.org/drawingml/2006/main">
            <a:off x="7658100" y="175260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Ports</a:t>
            </a:r>
          </a:p>
        </p:txBody>
      </p:sp>
      <p:cxnSp>
        <p:nvCxnSpPr>
          <p:cNvPr id="72" name=""/>
          <p:cNvCxnSpPr>
            <a:stCxn xmlns:a="http://schemas.openxmlformats.org/drawingml/2006/main" id="15" idx="3"/>
            <a:endCxn xmlns:a="http://schemas.openxmlformats.org/drawingml/2006/main" id="17" idx="1"/>
          </p:cNvCxnSpPr>
          <p:nvPr/>
        </p:nvCxnSpPr>
        <p:spPr>
          <a:xfrm xmlns:a="http://schemas.openxmlformats.org/drawingml/2006/main">
            <a:off x="3257550" y="3457575"/>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73" name=""/>
          <p:cNvCxnSpPr>
            <a:stCxn xmlns:a="http://schemas.openxmlformats.org/drawingml/2006/main" id="17" idx="3"/>
            <a:endCxn xmlns:a="http://schemas.openxmlformats.org/drawingml/2006/main" id="19" idx="1"/>
          </p:cNvCxnSpPr>
          <p:nvPr/>
        </p:nvCxnSpPr>
        <p:spPr>
          <a:xfrm xmlns:a="http://schemas.openxmlformats.org/drawingml/2006/main">
            <a:off x="7524750" y="3457575"/>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sp>
        <p:nvSpPr>
          <p:cNvPr id="37" name="VM / LAN">
            <a:extLst xmlns:a="http://schemas.openxmlformats.org/drawingml/2006/main">
              <a:ext uri="{FF2B5EF4-FFF2-40B4-BE49-F238E27FC236}">
                <a16:creationId xmlns:a16="http://schemas.microsoft.com/office/drawing/2014/main" id="{1D79D668-22F7-4466-A192-C41913ABD1B9}"/>
              </a:ext>
            </a:extLst>
          </p:cNvPr>
          <p:cNvSpPr>
            <a:spLocks xmlns:a="http://schemas.openxmlformats.org/drawingml/2006/main" noGrp="1"/>
          </p:cNvSpPr>
          <p:nvPr/>
        </p:nvSpPr>
        <p:spPr>
          <a:xfrm xmlns:a="http://schemas.openxmlformats.org/drawingml/2006/main">
            <a:off x="400050" y="27146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a:solidFill>
                  <a:srgbClr val="000000"/>
                </a:solidFill>
                <a:latin typeface="Arial"/>
                <a:ea typeface="Arial"/>
                <a:cs typeface="Arial"/>
              </a:defRPr>
            </a:pPr>
            <a:r>
              <a:rPr sz="1725">
                <a:solidFill>
                  <a:srgbClr val="000000"/>
                </a:solidFill>
                <a:latin typeface="Arial"/>
                <a:ea typeface="Arial"/>
                <a:cs typeface="Arial"/>
              </a:rPr>
              <a:t>VM / LAN</a:t>
            </a:r>
          </a:p>
        </p:txBody>
      </p:sp>
      <p:sp>
        <p:nvSpPr>
          <p:cNvPr id="38" name="HTTP">
            <a:extLst xmlns:a="http://schemas.openxmlformats.org/drawingml/2006/main">
              <a:ext uri="{FF2B5EF4-FFF2-40B4-BE49-F238E27FC236}">
                <a16:creationId xmlns:a16="http://schemas.microsoft.com/office/drawing/2014/main" id="{065067B3-C59B-491E-968F-BEB20F0ABC62}"/>
              </a:ext>
            </a:extLst>
          </p:cNvPr>
          <p:cNvSpPr>
            <a:spLocks xmlns:a="http://schemas.openxmlformats.org/drawingml/2006/main" noGrp="1"/>
          </p:cNvSpPr>
          <p:nvPr/>
        </p:nvSpPr>
        <p:spPr>
          <a:xfrm xmlns:a="http://schemas.openxmlformats.org/drawingml/2006/main">
            <a:off x="3581400" y="308610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HTTP</a:t>
            </a:r>
          </a:p>
        </p:txBody>
      </p:sp>
      <p:sp>
        <p:nvSpPr>
          <p:cNvPr id="39" name="Ports">
            <a:extLst xmlns:a="http://schemas.openxmlformats.org/drawingml/2006/main">
              <a:ext uri="{FF2B5EF4-FFF2-40B4-BE49-F238E27FC236}">
                <a16:creationId xmlns:a16="http://schemas.microsoft.com/office/drawing/2014/main" id="{762F852C-8A91-4C3B-8CF8-AC4BDA208686}"/>
              </a:ext>
            </a:extLst>
          </p:cNvPr>
          <p:cNvSpPr>
            <a:spLocks xmlns:a="http://schemas.openxmlformats.org/drawingml/2006/main" noGrp="1"/>
          </p:cNvSpPr>
          <p:nvPr/>
        </p:nvSpPr>
        <p:spPr>
          <a:xfrm xmlns:a="http://schemas.openxmlformats.org/drawingml/2006/main">
            <a:off x="7658100" y="308610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Ports</a:t>
            </a:r>
          </a:p>
        </p:txBody>
      </p:sp>
      <p:cxnSp>
        <p:nvCxnSpPr>
          <p:cNvPr id="77" name=""/>
          <p:cNvCxnSpPr>
            <a:stCxn xmlns:a="http://schemas.openxmlformats.org/drawingml/2006/main" id="21" idx="3"/>
            <a:endCxn xmlns:a="http://schemas.openxmlformats.org/drawingml/2006/main" id="23" idx="1"/>
          </p:cNvCxnSpPr>
          <p:nvPr/>
        </p:nvCxnSpPr>
        <p:spPr>
          <a:xfrm xmlns:a="http://schemas.openxmlformats.org/drawingml/2006/main">
            <a:off x="3257550" y="4791075"/>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cxnSp>
        <p:nvCxnSpPr>
          <p:cNvPr id="78" name=""/>
          <p:cNvCxnSpPr>
            <a:stCxn xmlns:a="http://schemas.openxmlformats.org/drawingml/2006/main" id="23" idx="3"/>
            <a:endCxn xmlns:a="http://schemas.openxmlformats.org/drawingml/2006/main" id="25" idx="1"/>
          </p:cNvCxnSpPr>
          <p:nvPr/>
        </p:nvCxnSpPr>
        <p:spPr>
          <a:xfrm xmlns:a="http://schemas.openxmlformats.org/drawingml/2006/main">
            <a:off x="7524750" y="4791075"/>
            <a:ext cx="1409700" cy="0"/>
          </a:xfrm>
          <a:prstGeom xmlns:a="http://schemas.openxmlformats.org/drawingml/2006/main" prst="straightConnector1">
            <a:avLst/>
          </a:prstGeom>
          <a:ln xmlns:a="http://schemas.openxmlformats.org/drawingml/2006/main" w="19050">
            <a:solidFill>
              <a:srgbClr val="000000"/>
            </a:solidFill>
            <a:prstDash val="solid"/>
            <a:tailEnd type="triangle" w="sm" len="sm"/>
          </a:ln>
        </p:spPr>
      </p:cxnSp>
      <p:sp>
        <p:nvSpPr>
          <p:cNvPr id="42" name="IBM CLOUD">
            <a:extLst xmlns:a="http://schemas.openxmlformats.org/drawingml/2006/main">
              <a:ext uri="{FF2B5EF4-FFF2-40B4-BE49-F238E27FC236}">
                <a16:creationId xmlns:a16="http://schemas.microsoft.com/office/drawing/2014/main" id="{C8A17C82-5664-4596-AD25-671B2446B3B3}"/>
              </a:ext>
            </a:extLst>
          </p:cNvPr>
          <p:cNvSpPr>
            <a:spLocks xmlns:a="http://schemas.openxmlformats.org/drawingml/2006/main" noGrp="1"/>
          </p:cNvSpPr>
          <p:nvPr/>
        </p:nvSpPr>
        <p:spPr>
          <a:xfrm xmlns:a="http://schemas.openxmlformats.org/drawingml/2006/main">
            <a:off x="400050" y="40481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a:solidFill>
                  <a:srgbClr val="000000"/>
                </a:solidFill>
                <a:latin typeface="Arial"/>
                <a:ea typeface="Arial"/>
                <a:cs typeface="Arial"/>
              </a:defRPr>
            </a:pPr>
            <a:r>
              <a:rPr sz="1725">
                <a:solidFill>
                  <a:srgbClr val="000000"/>
                </a:solidFill>
                <a:latin typeface="Arial"/>
                <a:ea typeface="Arial"/>
                <a:cs typeface="Arial"/>
              </a:rPr>
              <a:t>IBM CLOUD</a:t>
            </a:r>
          </a:p>
        </p:txBody>
      </p:sp>
      <p:sp>
        <p:nvSpPr>
          <p:cNvPr id="43" name="HTTPS">
            <a:extLst xmlns:a="http://schemas.openxmlformats.org/drawingml/2006/main">
              <a:ext uri="{FF2B5EF4-FFF2-40B4-BE49-F238E27FC236}">
                <a16:creationId xmlns:a16="http://schemas.microsoft.com/office/drawing/2014/main" id="{BEDD1544-3E5D-4AAF-AA47-B6D9F3C4B7C3}"/>
              </a:ext>
            </a:extLst>
          </p:cNvPr>
          <p:cNvSpPr>
            <a:spLocks xmlns:a="http://schemas.openxmlformats.org/drawingml/2006/main" noGrp="1"/>
          </p:cNvSpPr>
          <p:nvPr/>
        </p:nvSpPr>
        <p:spPr>
          <a:xfrm xmlns:a="http://schemas.openxmlformats.org/drawingml/2006/main">
            <a:off x="3581400" y="441960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HTTPS</a:t>
            </a:r>
          </a:p>
        </p:txBody>
      </p:sp>
      <p:sp>
        <p:nvSpPr>
          <p:cNvPr id="44" name="Route">
            <a:extLst xmlns:a="http://schemas.openxmlformats.org/drawingml/2006/main">
              <a:ext uri="{FF2B5EF4-FFF2-40B4-BE49-F238E27FC236}">
                <a16:creationId xmlns:a16="http://schemas.microsoft.com/office/drawing/2014/main" id="{E39C6761-70AE-4497-97F7-FB63D5CA6A4C}"/>
              </a:ext>
            </a:extLst>
          </p:cNvPr>
          <p:cNvSpPr>
            <a:spLocks xmlns:a="http://schemas.openxmlformats.org/drawingml/2006/main" noGrp="1"/>
          </p:cNvSpPr>
          <p:nvPr/>
        </p:nvSpPr>
        <p:spPr>
          <a:xfrm xmlns:a="http://schemas.openxmlformats.org/drawingml/2006/main">
            <a:off x="7658100" y="441960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000000"/>
                </a:solidFill>
                <a:latin typeface="Arial"/>
                <a:ea typeface="Arial"/>
                <a:cs typeface="Arial"/>
              </a:defRPr>
            </a:pPr>
            <a:r>
              <a:rPr sz="1650">
                <a:solidFill>
                  <a:srgbClr val="000000"/>
                </a:solidFill>
                <a:latin typeface="Arial"/>
                <a:ea typeface="Arial"/>
                <a:cs typeface="Arial"/>
              </a:rPr>
              <a:t>Route</a:t>
            </a:r>
          </a:p>
        </p:txBody>
      </p:sp>
    </p:spTree>
    <p:extLst>
      <p:ext uri="{BB962C8B-B14F-4D97-AF65-F5344CB8AC3E}">
        <p14:creationId xmlns:p14="http://schemas.microsoft.com/office/powerpoint/2010/main" val="15765113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599E08-FD3D-40D0-A820-269AAAE14B49}"/>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Verification has a clearly recorded limit</a:t>
            </a:r>
          </a:p>
        </p:txBody>
      </p:sp>
      <p:sp>
        <p:nvSpPr>
          <p:cNvPr id="2" name="">
            <a:extLst xmlns:a="http://schemas.openxmlformats.org/drawingml/2006/main">
              <a:ext uri="{FF2B5EF4-FFF2-40B4-BE49-F238E27FC236}">
                <a16:creationId xmlns:a16="http://schemas.microsoft.com/office/drawing/2014/main" id="{3CD08EBE-62D6-4604-A4FE-B767C7ECA2DE}"/>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14</a:t>
            </a:r>
          </a:p>
        </p:txBody>
      </p:sp>
      <p:sp>
        <p:nvSpPr>
          <p:cNvPr id="3" name="">
            <a:extLst xmlns:a="http://schemas.openxmlformats.org/drawingml/2006/main">
              <a:ext uri="{FF2B5EF4-FFF2-40B4-BE49-F238E27FC236}">
                <a16:creationId xmlns:a16="http://schemas.microsoft.com/office/drawing/2014/main" id="{69BB2479-9599-4AE8-8B0D-4F731A309776}"/>
              </a:ext>
            </a:extLst>
          </p:cNvPr>
          <p:cNvSpPr>
            <a:spLocks xmlns:a="http://schemas.openxmlformats.org/drawingml/2006/main" noGrp="1"/>
          </p:cNvSpPr>
          <p:nvPr/>
        </p:nvSpPr>
        <p:spPr>
          <a:xfrm xmlns:a="http://schemas.openxmlformats.org/drawingml/2006/main">
            <a:off x="400050" y="2028825"/>
            <a:ext cx="5534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Latest recorded contracts</a:t>
            </a:r>
          </a:p>
        </p:txBody>
      </p:sp>
      <p:sp>
        <p:nvSpPr>
          <p:cNvPr id="4" name="">
            <a:extLst xmlns:a="http://schemas.openxmlformats.org/drawingml/2006/main">
              <a:ext uri="{FF2B5EF4-FFF2-40B4-BE49-F238E27FC236}">
                <a16:creationId xmlns:a16="http://schemas.microsoft.com/office/drawing/2014/main" id="{DA5BEEBE-1FFC-4E95-A090-C6E9019BBD94}"/>
              </a:ext>
            </a:extLst>
          </p:cNvPr>
          <p:cNvSpPr>
            <a:spLocks xmlns:a="http://schemas.openxmlformats.org/drawingml/2006/main" noGrp="1"/>
          </p:cNvSpPr>
          <p:nvPr/>
        </p:nvSpPr>
        <p:spPr>
          <a:xfrm xmlns:a="http://schemas.openxmlformats.org/drawingml/2006/main">
            <a:off x="400050" y="2667000"/>
            <a:ext cx="55340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000000"/>
                </a:solidFill>
              </a:defRPr>
            </a:pPr>
            <a:r>
              <a:rPr sz="2175" b="0">
                <a:solidFill>
                  <a:srgbClr val="000000"/>
                </a:solidFill>
              </a:rPr>
              <a:t>27 passed / 4 failed</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31 tests on 7 September 2026</a:t>
            </a:r>
          </a:p>
          <a:p xmlns:a="http://schemas.openxmlformats.org/drawingml/2006/main">
            <a:pPr>
              <a:buNone/>
              <a:defRPr sz="2175" b="0">
                <a:solidFill>
                  <a:srgbClr val="000000"/>
                </a:solidFill>
              </a:defRPr>
            </a:pPr>
            <a:r>
              <a:rPr sz="2175" b="0">
                <a:solidFill>
                  <a:srgbClr val="000000"/>
                </a:solidFill>
              </a:rPr>
              <a:t>Recorded against commit 12867a5</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HR expectations and env parsing account for the four failures.</a:t>
            </a:r>
          </a:p>
        </p:txBody>
      </p:sp>
      <p:sp>
        <p:nvSpPr>
          <p:cNvPr id="5" name="">
            <a:extLst xmlns:a="http://schemas.openxmlformats.org/drawingml/2006/main">
              <a:ext uri="{FF2B5EF4-FFF2-40B4-BE49-F238E27FC236}">
                <a16:creationId xmlns:a16="http://schemas.microsoft.com/office/drawing/2014/main" id="{262BA96B-190B-4D8D-BDEF-5E82AB8D649F}"/>
              </a:ext>
            </a:extLst>
          </p:cNvPr>
          <p:cNvSpPr>
            <a:spLocks xmlns:a="http://schemas.openxmlformats.org/drawingml/2006/main" noGrp="1"/>
          </p:cNvSpPr>
          <p:nvPr/>
        </p:nvSpPr>
        <p:spPr>
          <a:xfrm xmlns:a="http://schemas.openxmlformats.org/drawingml/2006/main">
            <a:off x="6257925" y="2028825"/>
            <a:ext cx="5534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Runtime evidence</a:t>
            </a:r>
          </a:p>
        </p:txBody>
      </p:sp>
      <p:sp>
        <p:nvSpPr>
          <p:cNvPr id="6" name="">
            <a:extLst xmlns:a="http://schemas.openxmlformats.org/drawingml/2006/main">
              <a:ext uri="{FF2B5EF4-FFF2-40B4-BE49-F238E27FC236}">
                <a16:creationId xmlns:a16="http://schemas.microsoft.com/office/drawing/2014/main" id="{5ECD1CD8-A7CF-4C61-BB64-EE5294F62D2B}"/>
              </a:ext>
            </a:extLst>
          </p:cNvPr>
          <p:cNvSpPr>
            <a:spLocks xmlns:a="http://schemas.openxmlformats.org/drawingml/2006/main" noGrp="1"/>
          </p:cNvSpPr>
          <p:nvPr/>
        </p:nvSpPr>
        <p:spPr>
          <a:xfrm xmlns:a="http://schemas.openxmlformats.org/drawingml/2006/main">
            <a:off x="6257925" y="2667000"/>
            <a:ext cx="55340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000000"/>
                </a:solidFill>
              </a:defRPr>
            </a:pPr>
            <a:r>
              <a:rPr sz="2175" b="0">
                <a:solidFill>
                  <a:srgbClr val="000000"/>
                </a:solidFill>
              </a:rPr>
              <a:t>Historical smoke and matrix runs</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Runtime checks were not rerun in the latest recorded review.</a:t>
            </a:r>
          </a:p>
          <a:p xmlns:a="http://schemas.openxmlformats.org/drawingml/2006/main">
            <a:r>
              <a:t/>
            </a:r>
          </a:p>
          <a:p xmlns:a="http://schemas.openxmlformats.org/drawingml/2006/main">
            <a:pPr>
              <a:buNone/>
              <a:defRPr sz="2175" b="0">
                <a:solidFill>
                  <a:srgbClr val="000000"/>
                </a:solidFill>
              </a:defRPr>
            </a:pPr>
            <a:r>
              <a:rPr sz="2175" b="0">
                <a:solidFill>
                  <a:srgbClr val="000000"/>
                </a:solidFill>
              </a:rPr>
              <a:t>Live Code Engine deployment is not verified in the repository.</a:t>
            </a:r>
          </a:p>
        </p:txBody>
      </p:sp>
    </p:spTree>
    <p:extLst>
      <p:ext uri="{BB962C8B-B14F-4D97-AF65-F5344CB8AC3E}">
        <p14:creationId xmlns:p14="http://schemas.microsoft.com/office/powerpoint/2010/main" val="858937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D03821-AF6B-430B-AF59-1684FD9D73E4}"/>
              </a:ext>
            </a:extLst>
          </p:cNvPr>
          <p:cNvSpPr>
            <a:spLocks xmlns:a="http://schemas.openxmlformats.org/drawingml/2006/main" noGrp="1"/>
          </p:cNvSpPr>
          <p:nvPr/>
        </p:nvSpPr>
        <p:spPr>
          <a:xfrm xmlns:a="http://schemas.openxmlformats.org/drawingml/2006/main">
            <a:off x="400050" y="342900"/>
            <a:ext cx="11391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rgbClr val="000000"/>
                </a:solidFill>
              </a:defRPr>
            </a:pPr>
            <a:r>
              <a:rPr sz="3600" b="0">
                <a:solidFill>
                  <a:srgbClr val="000000"/>
                </a:solidFill>
              </a:rPr>
              <a:t>Keep the demo boundaries visible</a:t>
            </a:r>
          </a:p>
        </p:txBody>
      </p:sp>
      <p:sp>
        <p:nvSpPr>
          <p:cNvPr id="2" name="">
            <a:extLst xmlns:a="http://schemas.openxmlformats.org/drawingml/2006/main">
              <a:ext uri="{FF2B5EF4-FFF2-40B4-BE49-F238E27FC236}">
                <a16:creationId xmlns:a16="http://schemas.microsoft.com/office/drawing/2014/main" id="{4C9E0D9A-9603-46C0-854F-0DC004CA4DA2}"/>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15</a:t>
            </a:r>
          </a:p>
        </p:txBody>
      </p:sp>
      <p:sp>
        <p:nvSpPr>
          <p:cNvPr id="3" name="">
            <a:extLst xmlns:a="http://schemas.openxmlformats.org/drawingml/2006/main">
              <a:ext uri="{FF2B5EF4-FFF2-40B4-BE49-F238E27FC236}">
                <a16:creationId xmlns:a16="http://schemas.microsoft.com/office/drawing/2014/main" id="{B8AFFFCC-E419-4A8D-A639-B135A6C9CCCE}"/>
              </a:ext>
            </a:extLst>
          </p:cNvPr>
          <p:cNvSpPr>
            <a:spLocks xmlns:a="http://schemas.openxmlformats.org/drawingml/2006/main" noGrp="1"/>
          </p:cNvSpPr>
          <p:nvPr/>
        </p:nvSpPr>
        <p:spPr>
          <a:xfrm xmlns:a="http://schemas.openxmlformats.org/drawingml/2006/main">
            <a:off x="400050"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Data lifecycle</a:t>
            </a:r>
          </a:p>
        </p:txBody>
      </p:sp>
      <p:sp>
        <p:nvSpPr>
          <p:cNvPr id="4" name="">
            <a:extLst xmlns:a="http://schemas.openxmlformats.org/drawingml/2006/main">
              <a:ext uri="{FF2B5EF4-FFF2-40B4-BE49-F238E27FC236}">
                <a16:creationId xmlns:a16="http://schemas.microsoft.com/office/drawing/2014/main" id="{31DA3974-B675-4EAC-8ECD-3365FBEAB872}"/>
              </a:ext>
            </a:extLst>
          </p:cNvPr>
          <p:cNvSpPr>
            <a:spLocks xmlns:a="http://schemas.openxmlformats.org/drawingml/2006/main" noGrp="1"/>
          </p:cNvSpPr>
          <p:nvPr/>
        </p:nvSpPr>
        <p:spPr>
          <a:xfrm xmlns:a="http://schemas.openxmlformats.org/drawingml/2006/main">
            <a:off x="400050"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Backend startup deletes booking data and reloads the seed. Each path has its own SQLite file.</a:t>
            </a:r>
          </a:p>
        </p:txBody>
      </p:sp>
      <p:sp>
        <p:nvSpPr>
          <p:cNvPr id="5" name="">
            <a:extLst xmlns:a="http://schemas.openxmlformats.org/drawingml/2006/main">
              <a:ext uri="{FF2B5EF4-FFF2-40B4-BE49-F238E27FC236}">
                <a16:creationId xmlns:a16="http://schemas.microsoft.com/office/drawing/2014/main" id="{810F058E-D3C7-4FA5-9600-8E1C5E96D28A}"/>
              </a:ext>
            </a:extLst>
          </p:cNvPr>
          <p:cNvSpPr>
            <a:spLocks xmlns:a="http://schemas.openxmlformats.org/drawingml/2006/main" noGrp="1"/>
          </p:cNvSpPr>
          <p:nvPr/>
        </p:nvSpPr>
        <p:spPr>
          <a:xfrm xmlns:a="http://schemas.openxmlformats.org/drawingml/2006/main">
            <a:off x="4314825"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Operational scope</a:t>
            </a:r>
          </a:p>
        </p:txBody>
      </p:sp>
      <p:sp>
        <p:nvSpPr>
          <p:cNvPr id="6" name="">
            <a:extLst xmlns:a="http://schemas.openxmlformats.org/drawingml/2006/main">
              <a:ext uri="{FF2B5EF4-FFF2-40B4-BE49-F238E27FC236}">
                <a16:creationId xmlns:a16="http://schemas.microsoft.com/office/drawing/2014/main" id="{EE162288-31D7-4824-A9E1-91AAA66CA87A}"/>
              </a:ext>
            </a:extLst>
          </p:cNvPr>
          <p:cNvSpPr>
            <a:spLocks xmlns:a="http://schemas.openxmlformats.org/drawingml/2006/main" noGrp="1"/>
          </p:cNvSpPr>
          <p:nvPr/>
        </p:nvSpPr>
        <p:spPr>
          <a:xfrm xmlns:a="http://schemas.openxmlformats.org/drawingml/2006/main">
            <a:off x="4314825"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This is a learning project. Durable multi-instance storage and production hardening need further work.</a:t>
            </a:r>
          </a:p>
        </p:txBody>
      </p:sp>
      <p:sp>
        <p:nvSpPr>
          <p:cNvPr id="7" name="">
            <a:extLst xmlns:a="http://schemas.openxmlformats.org/drawingml/2006/main">
              <a:ext uri="{FF2B5EF4-FFF2-40B4-BE49-F238E27FC236}">
                <a16:creationId xmlns:a16="http://schemas.microsoft.com/office/drawing/2014/main" id="{D5E7EFA9-82A3-4580-99B5-0DB40CE17662}"/>
              </a:ext>
            </a:extLst>
          </p:cNvPr>
          <p:cNvSpPr>
            <a:spLocks xmlns:a="http://schemas.openxmlformats.org/drawingml/2006/main" noGrp="1"/>
          </p:cNvSpPr>
          <p:nvPr/>
        </p:nvSpPr>
        <p:spPr>
          <a:xfrm xmlns:a="http://schemas.openxmlformats.org/drawingml/2006/main">
            <a:off x="8229600" y="30480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000000"/>
                </a:solidFill>
              </a:defRPr>
            </a:pPr>
            <a:r>
              <a:rPr sz="2550" b="1">
                <a:solidFill>
                  <a:srgbClr val="000000"/>
                </a:solidFill>
              </a:rPr>
              <a:t>Comparison value</a:t>
            </a:r>
          </a:p>
        </p:txBody>
      </p:sp>
      <p:sp>
        <p:nvSpPr>
          <p:cNvPr id="8" name="">
            <a:extLst xmlns:a="http://schemas.openxmlformats.org/drawingml/2006/main">
              <a:ext uri="{FF2B5EF4-FFF2-40B4-BE49-F238E27FC236}">
                <a16:creationId xmlns:a16="http://schemas.microsoft.com/office/drawing/2014/main" id="{75CC9208-8893-4DE4-B31E-A09F926CB784}"/>
              </a:ext>
            </a:extLst>
          </p:cNvPr>
          <p:cNvSpPr>
            <a:spLocks xmlns:a="http://schemas.openxmlformats.org/drawingml/2006/main" noGrp="1"/>
          </p:cNvSpPr>
          <p:nvPr/>
        </p:nvSpPr>
        <p:spPr>
          <a:xfrm xmlns:a="http://schemas.openxmlformats.org/drawingml/2006/main">
            <a:off x="8229600" y="370522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defRPr>
            </a:pPr>
            <a:r>
              <a:rPr sz="2100" b="0">
                <a:solidFill>
                  <a:srgbClr val="000000"/>
                </a:solidFill>
              </a:rPr>
              <a:t>Use equivalent actions to examine protocol, client integration, and authentication choices.</a:t>
            </a:r>
          </a:p>
        </p:txBody>
      </p:sp>
    </p:spTree>
    <p:extLst>
      <p:ext uri="{BB962C8B-B14F-4D97-AF65-F5344CB8AC3E}">
        <p14:creationId xmlns:p14="http://schemas.microsoft.com/office/powerpoint/2010/main" val="136122437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B7C620-F9D3-4932-9B7E-0B4CD92EB257}"/>
              </a:ext>
            </a:extLst>
          </p:cNvPr>
          <p:cNvSpPr>
            <a:spLocks xmlns:a="http://schemas.openxmlformats.org/drawingml/2006/main" noGrp="1"/>
          </p:cNvSpPr>
          <p:nvPr/>
        </p:nvSpPr>
        <p:spPr>
          <a:xfrm xmlns:a="http://schemas.openxmlformats.org/drawingml/2006/main">
            <a:off x="11239500" y="62769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000000"/>
                </a:solidFill>
              </a:defRPr>
            </a:pPr>
            <a:r>
              <a:rPr sz="1650" b="0">
                <a:solidFill>
                  <a:srgbClr val="000000"/>
                </a:solidFill>
              </a:rPr>
              <a:t>16</a:t>
            </a:r>
          </a:p>
        </p:txBody>
      </p:sp>
      <p:sp>
        <p:nvSpPr>
          <p:cNvPr id="2" name="">
            <a:extLst xmlns:a="http://schemas.openxmlformats.org/drawingml/2006/main">
              <a:ext uri="{FF2B5EF4-FFF2-40B4-BE49-F238E27FC236}">
                <a16:creationId xmlns:a16="http://schemas.microsoft.com/office/drawing/2014/main" id="{802AA35E-33CB-4CB7-A014-36DC86151D8D}"/>
              </a:ext>
            </a:extLst>
          </p:cNvPr>
          <p:cNvSpPr>
            <a:spLocks xmlns:a="http://schemas.openxmlformats.org/drawingml/2006/main" noGrp="1"/>
          </p:cNvSpPr>
          <p:nvPr/>
        </p:nvSpPr>
        <p:spPr>
          <a:xfrm xmlns:a="http://schemas.openxmlformats.org/drawingml/2006/main">
            <a:off x="400050" y="4000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defRPr>
            </a:pPr>
            <a:r>
              <a:rPr sz="2400" b="0">
                <a:solidFill>
                  <a:srgbClr val="000000"/>
                </a:solidFill>
              </a:rPr>
              <a:t>EXPLORE THE REPOSITORY</a:t>
            </a:r>
          </a:p>
        </p:txBody>
      </p:sp>
      <p:sp>
        <p:nvSpPr>
          <p:cNvPr id="3" name="">
            <a:extLst xmlns:a="http://schemas.openxmlformats.org/drawingml/2006/main">
              <a:ext uri="{FF2B5EF4-FFF2-40B4-BE49-F238E27FC236}">
                <a16:creationId xmlns:a16="http://schemas.microsoft.com/office/drawing/2014/main" id="{56E23D08-F721-476F-BA17-A861A802EF23}"/>
              </a:ext>
            </a:extLst>
          </p:cNvPr>
          <p:cNvSpPr>
            <a:spLocks xmlns:a="http://schemas.openxmlformats.org/drawingml/2006/main" noGrp="1"/>
          </p:cNvSpPr>
          <p:nvPr/>
        </p:nvSpPr>
        <p:spPr>
          <a:xfrm xmlns:a="http://schemas.openxmlformats.org/drawingml/2006/main">
            <a:off x="400050" y="2000250"/>
            <a:ext cx="113919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700" b="0">
                <a:solidFill>
                  <a:srgbClr val="000000"/>
                </a:solidFill>
              </a:defRPr>
            </a:pPr>
            <a:r>
              <a:rPr sz="5700" b="0">
                <a:solidFill>
                  <a:srgbClr val="000000"/>
                </a:solidFill>
              </a:rPr>
              <a:t>Which boundary fits</a:t>
            </a:r>
          </a:p>
          <a:p xmlns:a="http://schemas.openxmlformats.org/drawingml/2006/main">
            <a:pPr>
              <a:buNone/>
              <a:defRPr sz="5700" b="0">
                <a:solidFill>
                  <a:srgbClr val="000000"/>
                </a:solidFill>
              </a:defRPr>
            </a:pPr>
            <a:r>
              <a:rPr sz="5700" b="0">
                <a:solidFill>
                  <a:srgbClr val="000000"/>
                </a:solidFill>
              </a:rPr>
              <a:t>your application?</a:t>
            </a:r>
          </a:p>
        </p:txBody>
      </p:sp>
      <p:sp>
        <p:nvSpPr>
          <p:cNvPr id="4" name="">
            <a:extLst xmlns:a="http://schemas.openxmlformats.org/drawingml/2006/main">
              <a:ext uri="{FF2B5EF4-FFF2-40B4-BE49-F238E27FC236}">
                <a16:creationId xmlns:a16="http://schemas.microsoft.com/office/drawing/2014/main" id="{9FC8FCC0-9AC5-4A47-8AF4-2ABD602ACC06}"/>
              </a:ext>
            </a:extLst>
          </p:cNvPr>
          <p:cNvSpPr>
            <a:spLocks xmlns:a="http://schemas.openxmlformats.org/drawingml/2006/main" noGrp="1"/>
          </p:cNvSpPr>
          <p:nvPr/>
        </p:nvSpPr>
        <p:spPr>
          <a:xfrm xmlns:a="http://schemas.openxmlformats.org/drawingml/2006/main">
            <a:off x="400050" y="4972050"/>
            <a:ext cx="113919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defRPr>
            </a:pPr>
            <a:r>
              <a:rPr sz="2400" b="0">
                <a:solidFill>
                  <a:srgbClr val="000000"/>
                </a:solidFill>
              </a:rPr>
              <a:t>Run both paths. Compare the evidence.</a:t>
            </a:r>
          </a:p>
          <a:p xmlns:a="http://schemas.openxmlformats.org/drawingml/2006/main">
            <a:pPr>
              <a:buNone/>
              <a:defRPr sz="2400" b="0">
                <a:solidFill>
                  <a:srgbClr val="000000"/>
                </a:solidFill>
              </a:defRPr>
            </a:pPr>
            <a:r>
              <a:rPr sz="2400" b="0">
                <a:solidFill>
                  <a:srgbClr val="000000"/>
                </a:solidFill>
              </a:rPr>
              <a:t>Start with QUICKSTART.md and ARCHITECTURE.md.</a:t>
            </a:r>
          </a:p>
        </p:txBody>
      </p:sp>
    </p:spTree>
    <p:extLst>
      <p:ext uri="{BB962C8B-B14F-4D97-AF65-F5344CB8AC3E}">
        <p14:creationId xmlns:p14="http://schemas.microsoft.com/office/powerpoint/2010/main" val="713520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2026-09-07T19:10:08.4060000Z</dcterms:created>
  <dcterms:modified xsi:type="dcterms:W3CDTF">2026-09-07T19:10:08.4060000Z</dcterms:modified>
</coreProperties>
</file>